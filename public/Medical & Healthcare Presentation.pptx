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x="18288000" cy="10287000"/>
  <p:notesSz cx="6858000" cy="9144000"/>
  <p:embeddedFontLst>
    <p:embeddedFont>
      <p:font typeface="ABeeZee Bold" charset="1" panose="02000000000000000000"/>
      <p:regular r:id="rId20"/>
    </p:embeddedFont>
    <p:embeddedFont>
      <p:font typeface="ABeeZee" charset="1" panose="02000000000000000000"/>
      <p:regular r:id="rId21"/>
    </p:embeddedFont>
    <p:embeddedFont>
      <p:font typeface="Rosario Bold" charset="1" panose="02000503060000020004"/>
      <p:regular r:id="rId22"/>
    </p:embeddedFont>
    <p:embeddedFont>
      <p:font typeface="Rosario" charset="1" panose="02000503040000020003"/>
      <p:regular r:id="rId2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3.jpe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9.png" Type="http://schemas.openxmlformats.org/officeDocument/2006/relationships/image"/><Relationship Id="rId7" Target="../media/image10.svg" Type="http://schemas.openxmlformats.org/officeDocument/2006/relationships/image"/><Relationship Id="rId8" Target="../media/image14.jpeg" Type="http://schemas.openxmlformats.org/officeDocument/2006/relationships/image"/><Relationship Id="rId9" Target="../media/image15.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6.jpe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 Id="rId6" Target="../media/image11.png" Type="http://schemas.openxmlformats.org/officeDocument/2006/relationships/image"/><Relationship Id="rId7" Target="../media/image12.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5.png" Type="http://schemas.openxmlformats.org/officeDocument/2006/relationships/image"/><Relationship Id="rId4" Target="../media/image6.svg" Type="http://schemas.openxmlformats.org/officeDocument/2006/relationships/image"/><Relationship Id="rId5" Target="../media/image9.png" Type="http://schemas.openxmlformats.org/officeDocument/2006/relationships/image"/><Relationship Id="rId6" Target="../media/image10.svg" Type="http://schemas.openxmlformats.org/officeDocument/2006/relationships/image"/><Relationship Id="rId7" Target="../media/image4.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5.pn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 Id="rId6" Target="../media/image11.png" Type="http://schemas.openxmlformats.org/officeDocument/2006/relationships/image"/><Relationship Id="rId7" Target="../media/image12.svg" Type="http://schemas.openxmlformats.org/officeDocument/2006/relationships/image"/><Relationship Id="rId8" Target="../media/image9.png" Type="http://schemas.openxmlformats.org/officeDocument/2006/relationships/image"/><Relationship Id="rId9" Target="../media/image10.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5.png" Type="http://schemas.openxmlformats.org/officeDocument/2006/relationships/image"/><Relationship Id="rId4" Target="../media/image6.svg" Type="http://schemas.openxmlformats.org/officeDocument/2006/relationships/image"/><Relationship Id="rId5" Target="../media/image9.png" Type="http://schemas.openxmlformats.org/officeDocument/2006/relationships/image"/><Relationship Id="rId6" Target="../media/image10.svg" Type="http://schemas.openxmlformats.org/officeDocument/2006/relationships/image"/><Relationship Id="rId7" Target="../media/image15.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5.pn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9.png" Type="http://schemas.openxmlformats.org/officeDocument/2006/relationships/image"/><Relationship Id="rId9" Target="../media/image10.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5.png" Type="http://schemas.openxmlformats.org/officeDocument/2006/relationships/image"/><Relationship Id="rId4" Target="../media/image6.svg" Type="http://schemas.openxmlformats.org/officeDocument/2006/relationships/image"/><Relationship Id="rId5" Target="../media/image17.jpeg" Type="http://schemas.openxmlformats.org/officeDocument/2006/relationships/image"/><Relationship Id="rId6" Target="../media/image11.png" Type="http://schemas.openxmlformats.org/officeDocument/2006/relationships/image"/><Relationship Id="rId7" Target="../media/image12.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5.png" Type="http://schemas.openxmlformats.org/officeDocument/2006/relationships/image"/><Relationship Id="rId11" Target="../media/image6.svg" Type="http://schemas.openxmlformats.org/officeDocument/2006/relationships/image"/><Relationship Id="rId12" Target="../media/image19.png" Type="http://schemas.openxmlformats.org/officeDocument/2006/relationships/image"/><Relationship Id="rId13" Target="../media/image20.svg" Type="http://schemas.openxmlformats.org/officeDocument/2006/relationships/image"/><Relationship Id="rId2" Target="../media/image1.png" Type="http://schemas.openxmlformats.org/officeDocument/2006/relationships/image"/><Relationship Id="rId3" Target="../media/image18.jpe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 Id="rId6" Target="../media/image11.png" Type="http://schemas.openxmlformats.org/officeDocument/2006/relationships/image"/><Relationship Id="rId7" Target="../media/image12.svg" Type="http://schemas.openxmlformats.org/officeDocument/2006/relationships/image"/><Relationship Id="rId8" Target="../media/image9.png" Type="http://schemas.openxmlformats.org/officeDocument/2006/relationships/image"/><Relationship Id="rId9" Target="../media/image10.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7.png" Type="http://schemas.openxmlformats.org/officeDocument/2006/relationships/image"/><Relationship Id="rId4" Target="../media/image8.svg" Type="http://schemas.openxmlformats.org/officeDocument/2006/relationships/image"/><Relationship Id="rId5" Target="../media/image11.png" Type="http://schemas.openxmlformats.org/officeDocument/2006/relationships/image"/><Relationship Id="rId6" Target="../media/image12.svg" Type="http://schemas.openxmlformats.org/officeDocument/2006/relationships/image"/><Relationship Id="rId7" Target="../media/image21.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2.jpe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23.jpe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4.jpe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9.png" Type="http://schemas.openxmlformats.org/officeDocument/2006/relationships/image"/><Relationship Id="rId7" Target="../media/image10.svg" Type="http://schemas.openxmlformats.org/officeDocument/2006/relationships/image"/><Relationship Id="rId8" Target="../media/image5.png" Type="http://schemas.openxmlformats.org/officeDocument/2006/relationships/image"/><Relationship Id="rId9" Target="../media/image6.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5.jpeg" Type="http://schemas.openxmlformats.org/officeDocument/2006/relationships/image"/><Relationship Id="rId4" Target="../media/image26.jpe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2.svg" Type="http://schemas.openxmlformats.org/officeDocument/2006/relationships/image"/><Relationship Id="rId11" Target="../media/image4.png" Type="http://schemas.openxmlformats.org/officeDocument/2006/relationships/image"/><Relationship Id="rId2" Target="../media/image1.png" Type="http://schemas.openxmlformats.org/officeDocument/2006/relationships/image"/><Relationship Id="rId3" Target="../media/image5.png" Type="http://schemas.openxmlformats.org/officeDocument/2006/relationships/image"/><Relationship Id="rId4" Target="../media/image6.svg" Type="http://schemas.openxmlformats.org/officeDocument/2006/relationships/image"/><Relationship Id="rId5" Target="../media/image7.png" Type="http://schemas.openxmlformats.org/officeDocument/2006/relationships/image"/><Relationship Id="rId6" Target="../media/image8.svg" Type="http://schemas.openxmlformats.org/officeDocument/2006/relationships/image"/><Relationship Id="rId7" Target="../media/image9.png" Type="http://schemas.openxmlformats.org/officeDocument/2006/relationships/image"/><Relationship Id="rId8" Target="../media/image10.svg" Type="http://schemas.openxmlformats.org/officeDocument/2006/relationships/image"/><Relationship Id="rId9" Target="../media/image11.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313" r="0" b="-9313"/>
            </a:stretch>
          </a:blipFill>
        </p:spPr>
      </p:sp>
      <p:sp>
        <p:nvSpPr>
          <p:cNvPr name="Freeform 3" id="3"/>
          <p:cNvSpPr/>
          <p:nvPr/>
        </p:nvSpPr>
        <p:spPr>
          <a:xfrm flipH="false" flipV="false" rot="0">
            <a:off x="1028700" y="7487120"/>
            <a:ext cx="1778162" cy="1315840"/>
          </a:xfrm>
          <a:custGeom>
            <a:avLst/>
            <a:gdLst/>
            <a:ahLst/>
            <a:cxnLst/>
            <a:rect r="r" b="b" t="t" l="l"/>
            <a:pathLst>
              <a:path h="1315840" w="1778162">
                <a:moveTo>
                  <a:pt x="0" y="0"/>
                </a:moveTo>
                <a:lnTo>
                  <a:pt x="1778162" y="0"/>
                </a:lnTo>
                <a:lnTo>
                  <a:pt x="1778162" y="1315840"/>
                </a:lnTo>
                <a:lnTo>
                  <a:pt x="0" y="131584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4" id="4"/>
          <p:cNvGrpSpPr/>
          <p:nvPr/>
        </p:nvGrpSpPr>
        <p:grpSpPr>
          <a:xfrm rot="0">
            <a:off x="1242142" y="925751"/>
            <a:ext cx="8192511" cy="4905961"/>
            <a:chOff x="0" y="0"/>
            <a:chExt cx="1207403" cy="723035"/>
          </a:xfrm>
        </p:grpSpPr>
        <p:sp>
          <p:nvSpPr>
            <p:cNvPr name="Freeform 5" id="5"/>
            <p:cNvSpPr/>
            <p:nvPr/>
          </p:nvSpPr>
          <p:spPr>
            <a:xfrm flipH="false" flipV="false" rot="0">
              <a:off x="0" y="0"/>
              <a:ext cx="1207403" cy="723035"/>
            </a:xfrm>
            <a:custGeom>
              <a:avLst/>
              <a:gdLst/>
              <a:ahLst/>
              <a:cxnLst/>
              <a:rect r="r" b="b" t="t" l="l"/>
              <a:pathLst>
                <a:path h="723035" w="1207403">
                  <a:moveTo>
                    <a:pt x="32130" y="0"/>
                  </a:moveTo>
                  <a:lnTo>
                    <a:pt x="1175273" y="0"/>
                  </a:lnTo>
                  <a:cubicBezTo>
                    <a:pt x="1183794" y="0"/>
                    <a:pt x="1191967" y="3385"/>
                    <a:pt x="1197992" y="9411"/>
                  </a:cubicBezTo>
                  <a:cubicBezTo>
                    <a:pt x="1204018" y="15436"/>
                    <a:pt x="1207403" y="23609"/>
                    <a:pt x="1207403" y="32130"/>
                  </a:cubicBezTo>
                  <a:lnTo>
                    <a:pt x="1207403" y="690905"/>
                  </a:lnTo>
                  <a:cubicBezTo>
                    <a:pt x="1207403" y="708650"/>
                    <a:pt x="1193018" y="723035"/>
                    <a:pt x="1175273" y="723035"/>
                  </a:cubicBezTo>
                  <a:lnTo>
                    <a:pt x="32130" y="723035"/>
                  </a:lnTo>
                  <a:cubicBezTo>
                    <a:pt x="23609" y="723035"/>
                    <a:pt x="15436" y="719650"/>
                    <a:pt x="9411" y="713624"/>
                  </a:cubicBezTo>
                  <a:cubicBezTo>
                    <a:pt x="3385" y="707599"/>
                    <a:pt x="0" y="699426"/>
                    <a:pt x="0" y="690905"/>
                  </a:cubicBezTo>
                  <a:lnTo>
                    <a:pt x="0" y="32130"/>
                  </a:lnTo>
                  <a:cubicBezTo>
                    <a:pt x="0" y="23609"/>
                    <a:pt x="3385" y="15436"/>
                    <a:pt x="9411" y="9411"/>
                  </a:cubicBezTo>
                  <a:cubicBezTo>
                    <a:pt x="15436" y="3385"/>
                    <a:pt x="23609" y="0"/>
                    <a:pt x="32130" y="0"/>
                  </a:cubicBezTo>
                  <a:close/>
                </a:path>
              </a:pathLst>
            </a:custGeom>
            <a:blipFill>
              <a:blip r:embed="rId5"/>
              <a:stretch>
                <a:fillRect l="0" t="-33495" r="0" b="-33495"/>
              </a:stretch>
            </a:blipFill>
            <a:ln w="104775" cap="rnd">
              <a:solidFill>
                <a:srgbClr val="61739D"/>
              </a:solidFill>
              <a:prstDash val="solid"/>
              <a:round/>
            </a:ln>
          </p:spPr>
        </p:sp>
      </p:grpSp>
      <p:sp>
        <p:nvSpPr>
          <p:cNvPr name="Freeform 6" id="6"/>
          <p:cNvSpPr/>
          <p:nvPr/>
        </p:nvSpPr>
        <p:spPr>
          <a:xfrm flipH="false" flipV="false" rot="0">
            <a:off x="5815126" y="7149988"/>
            <a:ext cx="3945807" cy="3945807"/>
          </a:xfrm>
          <a:custGeom>
            <a:avLst/>
            <a:gdLst/>
            <a:ahLst/>
            <a:cxnLst/>
            <a:rect r="r" b="b" t="t" l="l"/>
            <a:pathLst>
              <a:path h="3945807" w="3945807">
                <a:moveTo>
                  <a:pt x="0" y="0"/>
                </a:moveTo>
                <a:lnTo>
                  <a:pt x="3945807" y="0"/>
                </a:lnTo>
                <a:lnTo>
                  <a:pt x="3945807" y="3945807"/>
                </a:lnTo>
                <a:lnTo>
                  <a:pt x="0" y="394580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14678855" y="5537133"/>
            <a:ext cx="1464519" cy="1326056"/>
          </a:xfrm>
          <a:custGeom>
            <a:avLst/>
            <a:gdLst/>
            <a:ahLst/>
            <a:cxnLst/>
            <a:rect r="r" b="b" t="t" l="l"/>
            <a:pathLst>
              <a:path h="1326056" w="1464519">
                <a:moveTo>
                  <a:pt x="0" y="0"/>
                </a:moveTo>
                <a:lnTo>
                  <a:pt x="1464519" y="0"/>
                </a:lnTo>
                <a:lnTo>
                  <a:pt x="1464519" y="1326055"/>
                </a:lnTo>
                <a:lnTo>
                  <a:pt x="0" y="132605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8" id="8"/>
          <p:cNvSpPr/>
          <p:nvPr/>
        </p:nvSpPr>
        <p:spPr>
          <a:xfrm flipH="false" flipV="false" rot="0">
            <a:off x="8406358" y="6790086"/>
            <a:ext cx="2276803" cy="2276803"/>
          </a:xfrm>
          <a:custGeom>
            <a:avLst/>
            <a:gdLst/>
            <a:ahLst/>
            <a:cxnLst/>
            <a:rect r="r" b="b" t="t" l="l"/>
            <a:pathLst>
              <a:path h="2276803" w="2276803">
                <a:moveTo>
                  <a:pt x="0" y="0"/>
                </a:moveTo>
                <a:lnTo>
                  <a:pt x="2276803" y="0"/>
                </a:lnTo>
                <a:lnTo>
                  <a:pt x="2276803" y="2276803"/>
                </a:lnTo>
                <a:lnTo>
                  <a:pt x="0" y="2276803"/>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9" id="9"/>
          <p:cNvSpPr/>
          <p:nvPr/>
        </p:nvSpPr>
        <p:spPr>
          <a:xfrm flipH="false" flipV="false" rot="0">
            <a:off x="11795486" y="5831712"/>
            <a:ext cx="2384082" cy="736898"/>
          </a:xfrm>
          <a:custGeom>
            <a:avLst/>
            <a:gdLst/>
            <a:ahLst/>
            <a:cxnLst/>
            <a:rect r="r" b="b" t="t" l="l"/>
            <a:pathLst>
              <a:path h="736898" w="2384082">
                <a:moveTo>
                  <a:pt x="0" y="0"/>
                </a:moveTo>
                <a:lnTo>
                  <a:pt x="2384082" y="0"/>
                </a:lnTo>
                <a:lnTo>
                  <a:pt x="2384082" y="736898"/>
                </a:lnTo>
                <a:lnTo>
                  <a:pt x="0" y="736898"/>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10" id="10"/>
          <p:cNvSpPr txBox="true"/>
          <p:nvPr/>
        </p:nvSpPr>
        <p:spPr>
          <a:xfrm rot="0">
            <a:off x="12098410" y="7587608"/>
            <a:ext cx="5160890" cy="605559"/>
          </a:xfrm>
          <a:prstGeom prst="rect">
            <a:avLst/>
          </a:prstGeom>
        </p:spPr>
        <p:txBody>
          <a:bodyPr anchor="t" rtlCol="false" tIns="0" lIns="0" bIns="0" rIns="0">
            <a:spAutoFit/>
          </a:bodyPr>
          <a:lstStyle/>
          <a:p>
            <a:pPr algn="r">
              <a:lnSpc>
                <a:spcPts val="4947"/>
              </a:lnSpc>
            </a:pPr>
            <a:r>
              <a:rPr lang="en-US" sz="3534">
                <a:solidFill>
                  <a:srgbClr val="03216A"/>
                </a:solidFill>
                <a:latin typeface="ABeeZee Bold"/>
                <a:ea typeface="ABeeZee Bold"/>
                <a:cs typeface="ABeeZee Bold"/>
                <a:sym typeface="ABeeZee Bold"/>
              </a:rPr>
              <a:t>Presentation by</a:t>
            </a:r>
          </a:p>
        </p:txBody>
      </p:sp>
      <p:sp>
        <p:nvSpPr>
          <p:cNvPr name="TextBox 11" id="11"/>
          <p:cNvSpPr txBox="true"/>
          <p:nvPr/>
        </p:nvSpPr>
        <p:spPr>
          <a:xfrm rot="0">
            <a:off x="12098410" y="8237406"/>
            <a:ext cx="5160890" cy="565554"/>
          </a:xfrm>
          <a:prstGeom prst="rect">
            <a:avLst/>
          </a:prstGeom>
        </p:spPr>
        <p:txBody>
          <a:bodyPr anchor="t" rtlCol="false" tIns="0" lIns="0" bIns="0" rIns="0">
            <a:spAutoFit/>
          </a:bodyPr>
          <a:lstStyle/>
          <a:p>
            <a:pPr algn="r">
              <a:lnSpc>
                <a:spcPts val="4527"/>
              </a:lnSpc>
            </a:pPr>
            <a:r>
              <a:rPr lang="en-US" sz="3234">
                <a:solidFill>
                  <a:srgbClr val="03216A"/>
                </a:solidFill>
                <a:latin typeface="ABeeZee"/>
                <a:ea typeface="ABeeZee"/>
                <a:cs typeface="ABeeZee"/>
                <a:sym typeface="ABeeZee"/>
              </a:rPr>
              <a:t>Flédéric Payet</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313" r="0" b="-9313"/>
            </a:stretch>
          </a:blipFill>
        </p:spPr>
      </p:sp>
      <p:grpSp>
        <p:nvGrpSpPr>
          <p:cNvPr name="Group 3" id="3"/>
          <p:cNvGrpSpPr/>
          <p:nvPr/>
        </p:nvGrpSpPr>
        <p:grpSpPr>
          <a:xfrm rot="0">
            <a:off x="1028700" y="5506797"/>
            <a:ext cx="5533196" cy="3452643"/>
            <a:chOff x="0" y="0"/>
            <a:chExt cx="857237" cy="534905"/>
          </a:xfrm>
        </p:grpSpPr>
        <p:sp>
          <p:nvSpPr>
            <p:cNvPr name="Freeform 4" id="4"/>
            <p:cNvSpPr/>
            <p:nvPr/>
          </p:nvSpPr>
          <p:spPr>
            <a:xfrm flipH="false" flipV="false" rot="0">
              <a:off x="0" y="0"/>
              <a:ext cx="857237" cy="534905"/>
            </a:xfrm>
            <a:custGeom>
              <a:avLst/>
              <a:gdLst/>
              <a:ahLst/>
              <a:cxnLst/>
              <a:rect r="r" b="b" t="t" l="l"/>
              <a:pathLst>
                <a:path h="534905" w="857237">
                  <a:moveTo>
                    <a:pt x="47572" y="0"/>
                  </a:moveTo>
                  <a:lnTo>
                    <a:pt x="809665" y="0"/>
                  </a:lnTo>
                  <a:cubicBezTo>
                    <a:pt x="835938" y="0"/>
                    <a:pt x="857237" y="21299"/>
                    <a:pt x="857237" y="47572"/>
                  </a:cubicBezTo>
                  <a:lnTo>
                    <a:pt x="857237" y="487333"/>
                  </a:lnTo>
                  <a:cubicBezTo>
                    <a:pt x="857237" y="513606"/>
                    <a:pt x="835938" y="534905"/>
                    <a:pt x="809665" y="534905"/>
                  </a:cubicBezTo>
                  <a:lnTo>
                    <a:pt x="47572" y="534905"/>
                  </a:lnTo>
                  <a:cubicBezTo>
                    <a:pt x="34955" y="534905"/>
                    <a:pt x="22855" y="529893"/>
                    <a:pt x="13934" y="520971"/>
                  </a:cubicBezTo>
                  <a:cubicBezTo>
                    <a:pt x="5012" y="512050"/>
                    <a:pt x="0" y="499950"/>
                    <a:pt x="0" y="487333"/>
                  </a:cubicBezTo>
                  <a:lnTo>
                    <a:pt x="0" y="47572"/>
                  </a:lnTo>
                  <a:cubicBezTo>
                    <a:pt x="0" y="21299"/>
                    <a:pt x="21299" y="0"/>
                    <a:pt x="47572" y="0"/>
                  </a:cubicBezTo>
                  <a:close/>
                </a:path>
              </a:pathLst>
            </a:custGeom>
            <a:blipFill>
              <a:blip r:embed="rId3"/>
              <a:stretch>
                <a:fillRect l="0" t="-3286" r="0" b="-3286"/>
              </a:stretch>
            </a:blipFill>
            <a:ln w="104775" cap="rnd">
              <a:solidFill>
                <a:srgbClr val="61739D"/>
              </a:solidFill>
              <a:prstDash val="solid"/>
              <a:round/>
            </a:ln>
          </p:spPr>
        </p:sp>
      </p:grpSp>
      <p:sp>
        <p:nvSpPr>
          <p:cNvPr name="Freeform 5" id="5"/>
          <p:cNvSpPr/>
          <p:nvPr/>
        </p:nvSpPr>
        <p:spPr>
          <a:xfrm flipH="false" flipV="false" rot="0">
            <a:off x="8671971" y="5953473"/>
            <a:ext cx="3304827" cy="3304827"/>
          </a:xfrm>
          <a:custGeom>
            <a:avLst/>
            <a:gdLst/>
            <a:ahLst/>
            <a:cxnLst/>
            <a:rect r="r" b="b" t="t" l="l"/>
            <a:pathLst>
              <a:path h="3304827" w="3304827">
                <a:moveTo>
                  <a:pt x="0" y="0"/>
                </a:moveTo>
                <a:lnTo>
                  <a:pt x="3304827" y="0"/>
                </a:lnTo>
                <a:lnTo>
                  <a:pt x="3304827" y="3304827"/>
                </a:lnTo>
                <a:lnTo>
                  <a:pt x="0" y="330482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7533569" y="5703201"/>
            <a:ext cx="2276803" cy="2276803"/>
          </a:xfrm>
          <a:custGeom>
            <a:avLst/>
            <a:gdLst/>
            <a:ahLst/>
            <a:cxnLst/>
            <a:rect r="r" b="b" t="t" l="l"/>
            <a:pathLst>
              <a:path h="2276803" w="2276803">
                <a:moveTo>
                  <a:pt x="0" y="0"/>
                </a:moveTo>
                <a:lnTo>
                  <a:pt x="2276803" y="0"/>
                </a:lnTo>
                <a:lnTo>
                  <a:pt x="2276803" y="2276803"/>
                </a:lnTo>
                <a:lnTo>
                  <a:pt x="0" y="227680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7" id="7"/>
          <p:cNvGrpSpPr/>
          <p:nvPr/>
        </p:nvGrpSpPr>
        <p:grpSpPr>
          <a:xfrm rot="0">
            <a:off x="12557823" y="6208181"/>
            <a:ext cx="3993314" cy="3050119"/>
            <a:chOff x="0" y="0"/>
            <a:chExt cx="618669" cy="472543"/>
          </a:xfrm>
        </p:grpSpPr>
        <p:sp>
          <p:nvSpPr>
            <p:cNvPr name="Freeform 8" id="8"/>
            <p:cNvSpPr/>
            <p:nvPr/>
          </p:nvSpPr>
          <p:spPr>
            <a:xfrm flipH="false" flipV="false" rot="0">
              <a:off x="0" y="0"/>
              <a:ext cx="618669" cy="472543"/>
            </a:xfrm>
            <a:custGeom>
              <a:avLst/>
              <a:gdLst/>
              <a:ahLst/>
              <a:cxnLst/>
              <a:rect r="r" b="b" t="t" l="l"/>
              <a:pathLst>
                <a:path h="472543" w="618669">
                  <a:moveTo>
                    <a:pt x="65917" y="0"/>
                  </a:moveTo>
                  <a:lnTo>
                    <a:pt x="552752" y="0"/>
                  </a:lnTo>
                  <a:cubicBezTo>
                    <a:pt x="589157" y="0"/>
                    <a:pt x="618669" y="29512"/>
                    <a:pt x="618669" y="65917"/>
                  </a:cubicBezTo>
                  <a:lnTo>
                    <a:pt x="618669" y="406627"/>
                  </a:lnTo>
                  <a:cubicBezTo>
                    <a:pt x="618669" y="443031"/>
                    <a:pt x="589157" y="472543"/>
                    <a:pt x="552752" y="472543"/>
                  </a:cubicBezTo>
                  <a:lnTo>
                    <a:pt x="65917" y="472543"/>
                  </a:lnTo>
                  <a:cubicBezTo>
                    <a:pt x="29512" y="472543"/>
                    <a:pt x="0" y="443031"/>
                    <a:pt x="0" y="406627"/>
                  </a:cubicBezTo>
                  <a:lnTo>
                    <a:pt x="0" y="65917"/>
                  </a:lnTo>
                  <a:cubicBezTo>
                    <a:pt x="0" y="29512"/>
                    <a:pt x="29512" y="0"/>
                    <a:pt x="65917" y="0"/>
                  </a:cubicBezTo>
                  <a:close/>
                </a:path>
              </a:pathLst>
            </a:custGeom>
            <a:blipFill>
              <a:blip r:embed="rId8"/>
              <a:stretch>
                <a:fillRect l="-7429" t="0" r="-7429" b="0"/>
              </a:stretch>
            </a:blipFill>
            <a:ln w="104775" cap="rnd">
              <a:solidFill>
                <a:srgbClr val="61739D"/>
              </a:solidFill>
              <a:prstDash val="solid"/>
              <a:round/>
            </a:ln>
          </p:spPr>
        </p:sp>
      </p:grpSp>
      <p:sp>
        <p:nvSpPr>
          <p:cNvPr name="Freeform 9" id="9"/>
          <p:cNvSpPr/>
          <p:nvPr/>
        </p:nvSpPr>
        <p:spPr>
          <a:xfrm flipH="false" flipV="false" rot="0">
            <a:off x="515486" y="634227"/>
            <a:ext cx="6439648" cy="3909214"/>
          </a:xfrm>
          <a:custGeom>
            <a:avLst/>
            <a:gdLst/>
            <a:ahLst/>
            <a:cxnLst/>
            <a:rect r="r" b="b" t="t" l="l"/>
            <a:pathLst>
              <a:path h="3909214" w="6439648">
                <a:moveTo>
                  <a:pt x="0" y="0"/>
                </a:moveTo>
                <a:lnTo>
                  <a:pt x="6439647" y="0"/>
                </a:lnTo>
                <a:lnTo>
                  <a:pt x="6439647" y="3909214"/>
                </a:lnTo>
                <a:lnTo>
                  <a:pt x="0" y="3909214"/>
                </a:lnTo>
                <a:lnTo>
                  <a:pt x="0" y="0"/>
                </a:lnTo>
                <a:close/>
              </a:path>
            </a:pathLst>
          </a:custGeom>
          <a:blipFill>
            <a:blip r:embed="rId9"/>
            <a:stretch>
              <a:fillRect l="0" t="-9820" r="0" b="0"/>
            </a:stretch>
          </a:blipFill>
        </p:spPr>
      </p:sp>
      <p:sp>
        <p:nvSpPr>
          <p:cNvPr name="TextBox 10" id="10"/>
          <p:cNvSpPr txBox="true"/>
          <p:nvPr/>
        </p:nvSpPr>
        <p:spPr>
          <a:xfrm rot="0">
            <a:off x="7533569" y="558027"/>
            <a:ext cx="9725731" cy="5145174"/>
          </a:xfrm>
          <a:prstGeom prst="rect">
            <a:avLst/>
          </a:prstGeom>
        </p:spPr>
        <p:txBody>
          <a:bodyPr anchor="t" rtlCol="false" tIns="0" lIns="0" bIns="0" rIns="0">
            <a:spAutoFit/>
          </a:bodyPr>
          <a:lstStyle/>
          <a:p>
            <a:pPr algn="just">
              <a:lnSpc>
                <a:spcPts val="4107"/>
              </a:lnSpc>
            </a:pPr>
            <a:r>
              <a:rPr lang="en-US" sz="2934">
                <a:solidFill>
                  <a:srgbClr val="03216A"/>
                </a:solidFill>
                <a:latin typeface="ABeeZee"/>
                <a:ea typeface="ABeeZee"/>
                <a:cs typeface="ABeeZee"/>
                <a:sym typeface="ABeeZee"/>
              </a:rPr>
              <a:t>“An innovativ</a:t>
            </a:r>
            <a:r>
              <a:rPr lang="en-US" sz="2934">
                <a:solidFill>
                  <a:srgbClr val="03216A"/>
                </a:solidFill>
                <a:latin typeface="ABeeZee"/>
                <a:ea typeface="ABeeZee"/>
                <a:cs typeface="ABeeZee"/>
                <a:sym typeface="ABeeZee"/>
              </a:rPr>
              <a:t>e methodology with proven results, designed to stimulate the endocrine system and to reactivate and recalibrate the metabolism for increased energy, vitality, endurance, and faster recovery (Hormonal balance and neurotransmitter release)”*</a:t>
            </a:r>
          </a:p>
          <a:p>
            <a:pPr algn="just">
              <a:lnSpc>
                <a:spcPts val="4107"/>
              </a:lnSpc>
            </a:pPr>
          </a:p>
          <a:p>
            <a:pPr algn="just">
              <a:lnSpc>
                <a:spcPts val="4107"/>
              </a:lnSpc>
            </a:pPr>
            <a:r>
              <a:rPr lang="en-US" sz="2934">
                <a:solidFill>
                  <a:srgbClr val="03216A"/>
                </a:solidFill>
                <a:latin typeface="ABeeZee"/>
                <a:ea typeface="ABeeZee"/>
                <a:cs typeface="ABeeZee"/>
                <a:sym typeface="ABeeZee"/>
              </a:rPr>
              <a:t>*Metabolic Synchronization</a:t>
            </a:r>
          </a:p>
          <a:p>
            <a:pPr algn="just">
              <a:lnSpc>
                <a:spcPts val="4107"/>
              </a:lnSpc>
            </a:pPr>
          </a:p>
          <a:p>
            <a:pPr algn="just">
              <a:lnSpc>
                <a:spcPts val="4107"/>
              </a:lnSpc>
            </a:pP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313" r="0" b="-9313"/>
            </a:stretch>
          </a:blipFill>
        </p:spPr>
      </p:sp>
      <p:grpSp>
        <p:nvGrpSpPr>
          <p:cNvPr name="Group 3" id="3"/>
          <p:cNvGrpSpPr/>
          <p:nvPr/>
        </p:nvGrpSpPr>
        <p:grpSpPr>
          <a:xfrm rot="0">
            <a:off x="1347277" y="650084"/>
            <a:ext cx="3993314" cy="5695541"/>
            <a:chOff x="0" y="0"/>
            <a:chExt cx="618669" cy="882388"/>
          </a:xfrm>
        </p:grpSpPr>
        <p:sp>
          <p:nvSpPr>
            <p:cNvPr name="Freeform 4" id="4"/>
            <p:cNvSpPr/>
            <p:nvPr/>
          </p:nvSpPr>
          <p:spPr>
            <a:xfrm flipH="false" flipV="false" rot="0">
              <a:off x="0" y="0"/>
              <a:ext cx="618669" cy="882388"/>
            </a:xfrm>
            <a:custGeom>
              <a:avLst/>
              <a:gdLst/>
              <a:ahLst/>
              <a:cxnLst/>
              <a:rect r="r" b="b" t="t" l="l"/>
              <a:pathLst>
                <a:path h="882388" w="618669">
                  <a:moveTo>
                    <a:pt x="65917" y="0"/>
                  </a:moveTo>
                  <a:lnTo>
                    <a:pt x="552752" y="0"/>
                  </a:lnTo>
                  <a:cubicBezTo>
                    <a:pt x="589157" y="0"/>
                    <a:pt x="618669" y="29512"/>
                    <a:pt x="618669" y="65917"/>
                  </a:cubicBezTo>
                  <a:lnTo>
                    <a:pt x="618669" y="816472"/>
                  </a:lnTo>
                  <a:cubicBezTo>
                    <a:pt x="618669" y="852877"/>
                    <a:pt x="589157" y="882388"/>
                    <a:pt x="552752" y="882388"/>
                  </a:cubicBezTo>
                  <a:lnTo>
                    <a:pt x="65917" y="882388"/>
                  </a:lnTo>
                  <a:cubicBezTo>
                    <a:pt x="29512" y="882388"/>
                    <a:pt x="0" y="852877"/>
                    <a:pt x="0" y="816472"/>
                  </a:cubicBezTo>
                  <a:lnTo>
                    <a:pt x="0" y="65917"/>
                  </a:lnTo>
                  <a:cubicBezTo>
                    <a:pt x="0" y="29512"/>
                    <a:pt x="29512" y="0"/>
                    <a:pt x="65917" y="0"/>
                  </a:cubicBezTo>
                  <a:close/>
                </a:path>
              </a:pathLst>
            </a:custGeom>
            <a:blipFill>
              <a:blip r:embed="rId3"/>
              <a:stretch>
                <a:fillRect l="-3485" t="0" r="-3485" b="0"/>
              </a:stretch>
            </a:blipFill>
            <a:ln w="104775" cap="rnd">
              <a:solidFill>
                <a:srgbClr val="61739D"/>
              </a:solidFill>
              <a:prstDash val="solid"/>
              <a:round/>
            </a:ln>
          </p:spPr>
        </p:sp>
      </p:grpSp>
      <p:sp>
        <p:nvSpPr>
          <p:cNvPr name="Freeform 5" id="5"/>
          <p:cNvSpPr/>
          <p:nvPr/>
        </p:nvSpPr>
        <p:spPr>
          <a:xfrm flipH="false" flipV="false" rot="5400000">
            <a:off x="11131232" y="-1051979"/>
            <a:ext cx="2955144" cy="2675749"/>
          </a:xfrm>
          <a:custGeom>
            <a:avLst/>
            <a:gdLst/>
            <a:ahLst/>
            <a:cxnLst/>
            <a:rect r="r" b="b" t="t" l="l"/>
            <a:pathLst>
              <a:path h="2675749" w="2955144">
                <a:moveTo>
                  <a:pt x="0" y="0"/>
                </a:moveTo>
                <a:lnTo>
                  <a:pt x="2955145" y="0"/>
                </a:lnTo>
                <a:lnTo>
                  <a:pt x="2955145" y="2675749"/>
                </a:lnTo>
                <a:lnTo>
                  <a:pt x="0" y="267574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11416764" y="8521402"/>
            <a:ext cx="2384082" cy="736898"/>
          </a:xfrm>
          <a:custGeom>
            <a:avLst/>
            <a:gdLst/>
            <a:ahLst/>
            <a:cxnLst/>
            <a:rect r="r" b="b" t="t" l="l"/>
            <a:pathLst>
              <a:path h="736898" w="2384082">
                <a:moveTo>
                  <a:pt x="0" y="0"/>
                </a:moveTo>
                <a:lnTo>
                  <a:pt x="2384082" y="0"/>
                </a:lnTo>
                <a:lnTo>
                  <a:pt x="2384082" y="736898"/>
                </a:lnTo>
                <a:lnTo>
                  <a:pt x="0" y="73689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7" id="7"/>
          <p:cNvSpPr txBox="true"/>
          <p:nvPr/>
        </p:nvSpPr>
        <p:spPr>
          <a:xfrm rot="0">
            <a:off x="1347277" y="6789145"/>
            <a:ext cx="5212985" cy="2583474"/>
          </a:xfrm>
          <a:prstGeom prst="rect">
            <a:avLst/>
          </a:prstGeom>
        </p:spPr>
        <p:txBody>
          <a:bodyPr anchor="t" rtlCol="false" tIns="0" lIns="0" bIns="0" rIns="0">
            <a:spAutoFit/>
          </a:bodyPr>
          <a:lstStyle/>
          <a:p>
            <a:pPr algn="l">
              <a:lnSpc>
                <a:spcPts val="10213"/>
              </a:lnSpc>
            </a:pPr>
            <a:r>
              <a:rPr lang="en-US" sz="8511" b="true">
                <a:solidFill>
                  <a:srgbClr val="03216A"/>
                </a:solidFill>
                <a:latin typeface="Rosario Bold"/>
                <a:ea typeface="Rosario Bold"/>
                <a:cs typeface="Rosario Bold"/>
                <a:sym typeface="Rosario Bold"/>
              </a:rPr>
              <a:t>Founder</a:t>
            </a:r>
          </a:p>
          <a:p>
            <a:pPr algn="l">
              <a:lnSpc>
                <a:spcPts val="10213"/>
              </a:lnSpc>
            </a:pPr>
            <a:r>
              <a:rPr lang="en-US" sz="8511" b="true">
                <a:solidFill>
                  <a:srgbClr val="03216A"/>
                </a:solidFill>
                <a:latin typeface="Rosario Bold"/>
                <a:ea typeface="Rosario Bold"/>
                <a:cs typeface="Rosario Bold"/>
                <a:sym typeface="Rosario Bold"/>
              </a:rPr>
              <a:t>Biography</a:t>
            </a:r>
          </a:p>
        </p:txBody>
      </p:sp>
      <p:sp>
        <p:nvSpPr>
          <p:cNvPr name="TextBox 8" id="8"/>
          <p:cNvSpPr txBox="true"/>
          <p:nvPr/>
        </p:nvSpPr>
        <p:spPr>
          <a:xfrm rot="0">
            <a:off x="6156374" y="2523060"/>
            <a:ext cx="11413801" cy="5219700"/>
          </a:xfrm>
          <a:prstGeom prst="rect">
            <a:avLst/>
          </a:prstGeom>
        </p:spPr>
        <p:txBody>
          <a:bodyPr anchor="t" rtlCol="false" tIns="0" lIns="0" bIns="0" rIns="0">
            <a:spAutoFit/>
          </a:bodyPr>
          <a:lstStyle/>
          <a:p>
            <a:pPr algn="l">
              <a:lnSpc>
                <a:spcPts val="2713"/>
              </a:lnSpc>
              <a:spcBef>
                <a:spcPct val="0"/>
              </a:spcBef>
            </a:pPr>
            <a:r>
              <a:rPr lang="en-US" sz="2261">
                <a:solidFill>
                  <a:srgbClr val="03216A"/>
                </a:solidFill>
                <a:latin typeface="ABeeZee"/>
                <a:ea typeface="ABeeZee"/>
                <a:cs typeface="ABeeZee"/>
                <a:sym typeface="ABeeZee"/>
              </a:rPr>
              <a:t>Over the past two decades, I have met countless people in distress in various parts of the world or continents. I come from an intense French island myself, the Réunion, full of diversity.</a:t>
            </a:r>
          </a:p>
          <a:p>
            <a:pPr algn="l">
              <a:lnSpc>
                <a:spcPts val="2713"/>
              </a:lnSpc>
              <a:spcBef>
                <a:spcPct val="0"/>
              </a:spcBef>
            </a:pPr>
          </a:p>
          <a:p>
            <a:pPr algn="l">
              <a:lnSpc>
                <a:spcPts val="2713"/>
              </a:lnSpc>
              <a:spcBef>
                <a:spcPct val="0"/>
              </a:spcBef>
            </a:pPr>
            <a:r>
              <a:rPr lang="en-US" sz="2261">
                <a:solidFill>
                  <a:srgbClr val="03216A"/>
                </a:solidFill>
                <a:latin typeface="ABeeZee"/>
                <a:ea typeface="ABeeZee"/>
                <a:cs typeface="ABeeZee"/>
                <a:sym typeface="ABeeZee"/>
              </a:rPr>
              <a:t>I have been confronted with patients suffering from many diverse health issues, as well as with challenges faced by athletes or elite units. Since then, I have continuously developed new methods to adapt to each individual following much research and experimentation. </a:t>
            </a:r>
          </a:p>
          <a:p>
            <a:pPr algn="l">
              <a:lnSpc>
                <a:spcPts val="3200"/>
              </a:lnSpc>
              <a:spcBef>
                <a:spcPct val="0"/>
              </a:spcBef>
            </a:pPr>
          </a:p>
          <a:p>
            <a:pPr algn="l">
              <a:lnSpc>
                <a:spcPts val="2720"/>
              </a:lnSpc>
              <a:spcBef>
                <a:spcPct val="0"/>
              </a:spcBef>
            </a:pPr>
            <a:r>
              <a:rPr lang="en-US" sz="2266">
                <a:solidFill>
                  <a:srgbClr val="03216A"/>
                </a:solidFill>
                <a:latin typeface="ABeeZee"/>
                <a:ea typeface="ABeeZee"/>
                <a:cs typeface="ABeeZee"/>
                <a:sym typeface="ABeeZee"/>
              </a:rPr>
              <a:t>The gym has become a kind of preventive and curative hospital for me as I now understand the principles of metabolic synchronization and the natural stimulation of the endocrine system.</a:t>
            </a:r>
          </a:p>
          <a:p>
            <a:pPr algn="l">
              <a:lnSpc>
                <a:spcPts val="2720"/>
              </a:lnSpc>
              <a:spcBef>
                <a:spcPct val="0"/>
              </a:spcBef>
            </a:pPr>
          </a:p>
          <a:p>
            <a:pPr algn="l">
              <a:lnSpc>
                <a:spcPts val="2720"/>
              </a:lnSpc>
              <a:spcBef>
                <a:spcPct val="0"/>
              </a:spcBef>
            </a:pPr>
            <a:r>
              <a:rPr lang="en-US" sz="2266">
                <a:solidFill>
                  <a:srgbClr val="03216A"/>
                </a:solidFill>
                <a:latin typeface="ABeeZee"/>
                <a:ea typeface="ABeeZee"/>
                <a:cs typeface="ABeeZee"/>
                <a:sym typeface="ABeeZee"/>
              </a:rPr>
              <a:t> The results across all types of profiles have been extremely convincing, whether for athletes, people suffering from various pathologies, or amateurs.</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313" r="0" b="-9313"/>
            </a:stretch>
          </a:blipFill>
        </p:spPr>
      </p:sp>
      <p:sp>
        <p:nvSpPr>
          <p:cNvPr name="Freeform 3" id="3"/>
          <p:cNvSpPr/>
          <p:nvPr/>
        </p:nvSpPr>
        <p:spPr>
          <a:xfrm flipH="false" flipV="false" rot="0">
            <a:off x="4567295" y="8573862"/>
            <a:ext cx="3945807" cy="3945807"/>
          </a:xfrm>
          <a:custGeom>
            <a:avLst/>
            <a:gdLst/>
            <a:ahLst/>
            <a:cxnLst/>
            <a:rect r="r" b="b" t="t" l="l"/>
            <a:pathLst>
              <a:path h="3945807" w="3945807">
                <a:moveTo>
                  <a:pt x="0" y="0"/>
                </a:moveTo>
                <a:lnTo>
                  <a:pt x="3945807" y="0"/>
                </a:lnTo>
                <a:lnTo>
                  <a:pt x="3945807" y="3945807"/>
                </a:lnTo>
                <a:lnTo>
                  <a:pt x="0" y="394580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5401797" y="-786285"/>
            <a:ext cx="2502128" cy="2502128"/>
          </a:xfrm>
          <a:custGeom>
            <a:avLst/>
            <a:gdLst/>
            <a:ahLst/>
            <a:cxnLst/>
            <a:rect r="r" b="b" t="t" l="l"/>
            <a:pathLst>
              <a:path h="2502128" w="2502128">
                <a:moveTo>
                  <a:pt x="0" y="0"/>
                </a:moveTo>
                <a:lnTo>
                  <a:pt x="2502128" y="0"/>
                </a:lnTo>
                <a:lnTo>
                  <a:pt x="2502128" y="2502128"/>
                </a:lnTo>
                <a:lnTo>
                  <a:pt x="0" y="250212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5" id="5"/>
          <p:cNvGrpSpPr/>
          <p:nvPr/>
        </p:nvGrpSpPr>
        <p:grpSpPr>
          <a:xfrm rot="0">
            <a:off x="12451354" y="5419823"/>
            <a:ext cx="4498752" cy="3436176"/>
            <a:chOff x="0" y="0"/>
            <a:chExt cx="618669" cy="472543"/>
          </a:xfrm>
        </p:grpSpPr>
        <p:sp>
          <p:nvSpPr>
            <p:cNvPr name="Freeform 6" id="6"/>
            <p:cNvSpPr/>
            <p:nvPr/>
          </p:nvSpPr>
          <p:spPr>
            <a:xfrm flipH="false" flipV="false" rot="0">
              <a:off x="0" y="0"/>
              <a:ext cx="618669" cy="472543"/>
            </a:xfrm>
            <a:custGeom>
              <a:avLst/>
              <a:gdLst/>
              <a:ahLst/>
              <a:cxnLst/>
              <a:rect r="r" b="b" t="t" l="l"/>
              <a:pathLst>
                <a:path h="472543" w="618669">
                  <a:moveTo>
                    <a:pt x="58511" y="0"/>
                  </a:moveTo>
                  <a:lnTo>
                    <a:pt x="560158" y="0"/>
                  </a:lnTo>
                  <a:cubicBezTo>
                    <a:pt x="575676" y="0"/>
                    <a:pt x="590559" y="6165"/>
                    <a:pt x="601531" y="17137"/>
                  </a:cubicBezTo>
                  <a:cubicBezTo>
                    <a:pt x="612504" y="28110"/>
                    <a:pt x="618669" y="42993"/>
                    <a:pt x="618669" y="58511"/>
                  </a:cubicBezTo>
                  <a:lnTo>
                    <a:pt x="618669" y="414033"/>
                  </a:lnTo>
                  <a:cubicBezTo>
                    <a:pt x="618669" y="429551"/>
                    <a:pt x="612504" y="444433"/>
                    <a:pt x="601531" y="455406"/>
                  </a:cubicBezTo>
                  <a:cubicBezTo>
                    <a:pt x="590559" y="466379"/>
                    <a:pt x="575676" y="472543"/>
                    <a:pt x="560158" y="472543"/>
                  </a:cubicBezTo>
                  <a:lnTo>
                    <a:pt x="58511" y="472543"/>
                  </a:lnTo>
                  <a:cubicBezTo>
                    <a:pt x="42993" y="472543"/>
                    <a:pt x="28110" y="466379"/>
                    <a:pt x="17137" y="455406"/>
                  </a:cubicBezTo>
                  <a:cubicBezTo>
                    <a:pt x="6165" y="444433"/>
                    <a:pt x="0" y="429551"/>
                    <a:pt x="0" y="414033"/>
                  </a:cubicBezTo>
                  <a:lnTo>
                    <a:pt x="0" y="58511"/>
                  </a:lnTo>
                  <a:cubicBezTo>
                    <a:pt x="0" y="42993"/>
                    <a:pt x="6165" y="28110"/>
                    <a:pt x="17137" y="17137"/>
                  </a:cubicBezTo>
                  <a:cubicBezTo>
                    <a:pt x="28110" y="6165"/>
                    <a:pt x="42993" y="0"/>
                    <a:pt x="58511" y="0"/>
                  </a:cubicBezTo>
                  <a:close/>
                </a:path>
              </a:pathLst>
            </a:custGeom>
            <a:blipFill>
              <a:blip r:embed="rId7"/>
              <a:stretch>
                <a:fillRect l="0" t="-15461" r="0" b="-15461"/>
              </a:stretch>
            </a:blipFill>
            <a:ln w="104775" cap="rnd">
              <a:solidFill>
                <a:srgbClr val="61739D"/>
              </a:solidFill>
              <a:prstDash val="solid"/>
              <a:round/>
            </a:ln>
          </p:spPr>
        </p:sp>
      </p:grpSp>
      <p:sp>
        <p:nvSpPr>
          <p:cNvPr name="TextBox 7" id="7"/>
          <p:cNvSpPr txBox="true"/>
          <p:nvPr/>
        </p:nvSpPr>
        <p:spPr>
          <a:xfrm rot="0">
            <a:off x="11960136" y="1898491"/>
            <a:ext cx="5749740" cy="2590800"/>
          </a:xfrm>
          <a:prstGeom prst="rect">
            <a:avLst/>
          </a:prstGeom>
        </p:spPr>
        <p:txBody>
          <a:bodyPr anchor="t" rtlCol="false" tIns="0" lIns="0" bIns="0" rIns="0">
            <a:spAutoFit/>
          </a:bodyPr>
          <a:lstStyle/>
          <a:p>
            <a:pPr algn="r">
              <a:lnSpc>
                <a:spcPts val="10213"/>
              </a:lnSpc>
            </a:pPr>
            <a:r>
              <a:rPr lang="en-US" sz="8511" b="true">
                <a:solidFill>
                  <a:srgbClr val="03216A"/>
                </a:solidFill>
                <a:latin typeface="Rosario Bold"/>
                <a:ea typeface="Rosario Bold"/>
                <a:cs typeface="Rosario Bold"/>
                <a:sym typeface="Rosario Bold"/>
              </a:rPr>
              <a:t>Logo </a:t>
            </a:r>
          </a:p>
          <a:p>
            <a:pPr algn="r">
              <a:lnSpc>
                <a:spcPts val="10213"/>
              </a:lnSpc>
            </a:pPr>
            <a:r>
              <a:rPr lang="en-US" sz="8511" b="true">
                <a:solidFill>
                  <a:srgbClr val="03216A"/>
                </a:solidFill>
                <a:latin typeface="Rosario Bold"/>
                <a:ea typeface="Rosario Bold"/>
                <a:cs typeface="Rosario Bold"/>
                <a:sym typeface="Rosario Bold"/>
              </a:rPr>
              <a:t>Introduction</a:t>
            </a:r>
          </a:p>
        </p:txBody>
      </p:sp>
      <p:sp>
        <p:nvSpPr>
          <p:cNvPr name="TextBox 8" id="8"/>
          <p:cNvSpPr txBox="true"/>
          <p:nvPr/>
        </p:nvSpPr>
        <p:spPr>
          <a:xfrm rot="0">
            <a:off x="3341395" y="2458793"/>
            <a:ext cx="8098338" cy="2967233"/>
          </a:xfrm>
          <a:prstGeom prst="rect">
            <a:avLst/>
          </a:prstGeom>
        </p:spPr>
        <p:txBody>
          <a:bodyPr anchor="t" rtlCol="false" tIns="0" lIns="0" bIns="0" rIns="0">
            <a:spAutoFit/>
          </a:bodyPr>
          <a:lstStyle/>
          <a:p>
            <a:pPr algn="just">
              <a:lnSpc>
                <a:spcPts val="2968"/>
              </a:lnSpc>
            </a:pPr>
            <a:r>
              <a:rPr lang="en-US" sz="2120">
                <a:solidFill>
                  <a:srgbClr val="03216A"/>
                </a:solidFill>
                <a:latin typeface="ABeeZee"/>
                <a:ea typeface="ABeeZee"/>
                <a:cs typeface="ABeeZee"/>
                <a:sym typeface="ABeeZee"/>
              </a:rPr>
              <a:t>“Imagine you</a:t>
            </a:r>
            <a:r>
              <a:rPr lang="en-US" sz="2120">
                <a:solidFill>
                  <a:srgbClr val="03216A"/>
                </a:solidFill>
                <a:latin typeface="ABeeZee"/>
                <a:ea typeface="ABeeZee"/>
                <a:cs typeface="ABeeZee"/>
                <a:sym typeface="ABeeZee"/>
              </a:rPr>
              <a:t>r body is a bicycle, and for it to function properly, it requires regular maintenance. You need to oil the chain, tighten the brakes, change the tires, tighten the bolts, and ensure the suspension is in good condition.</a:t>
            </a:r>
          </a:p>
          <a:p>
            <a:pPr algn="just">
              <a:lnSpc>
                <a:spcPts val="2968"/>
              </a:lnSpc>
            </a:pPr>
          </a:p>
          <a:p>
            <a:pPr algn="just">
              <a:lnSpc>
                <a:spcPts val="2968"/>
              </a:lnSpc>
            </a:pPr>
            <a:r>
              <a:rPr lang="en-US" sz="2120">
                <a:solidFill>
                  <a:srgbClr val="03216A"/>
                </a:solidFill>
                <a:latin typeface="ABeeZee"/>
                <a:ea typeface="ABeeZee"/>
                <a:cs typeface="ABeeZee"/>
                <a:sym typeface="ABeeZee"/>
              </a:rPr>
              <a:t>Why this analogy? Because it reflects the metabolic functioning of the body.</a:t>
            </a:r>
          </a:p>
          <a:p>
            <a:pPr algn="just">
              <a:lnSpc>
                <a:spcPts val="2968"/>
              </a:lnSpc>
            </a:pPr>
          </a:p>
        </p:txBody>
      </p:sp>
      <p:sp>
        <p:nvSpPr>
          <p:cNvPr name="TextBox 9" id="9"/>
          <p:cNvSpPr txBox="true"/>
          <p:nvPr/>
        </p:nvSpPr>
        <p:spPr>
          <a:xfrm rot="0">
            <a:off x="3341395" y="5750084"/>
            <a:ext cx="8098338" cy="3359490"/>
          </a:xfrm>
          <a:prstGeom prst="rect">
            <a:avLst/>
          </a:prstGeom>
        </p:spPr>
        <p:txBody>
          <a:bodyPr anchor="t" rtlCol="false" tIns="0" lIns="0" bIns="0" rIns="0">
            <a:spAutoFit/>
          </a:bodyPr>
          <a:lstStyle/>
          <a:p>
            <a:pPr algn="just">
              <a:lnSpc>
                <a:spcPts val="3061"/>
              </a:lnSpc>
            </a:pPr>
            <a:r>
              <a:rPr lang="en-US" sz="2186">
                <a:solidFill>
                  <a:srgbClr val="03216A"/>
                </a:solidFill>
                <a:latin typeface="ABeeZee"/>
                <a:ea typeface="ABeeZee"/>
                <a:cs typeface="ABeeZee"/>
                <a:sym typeface="ABeeZee"/>
              </a:rPr>
              <a:t>Th</a:t>
            </a:r>
            <a:r>
              <a:rPr lang="en-US" sz="2186">
                <a:solidFill>
                  <a:srgbClr val="03216A"/>
                </a:solidFill>
                <a:latin typeface="ABeeZee"/>
                <a:ea typeface="ABeeZee"/>
                <a:cs typeface="ABeeZee"/>
                <a:sym typeface="ABeeZee"/>
              </a:rPr>
              <a:t>e chain represents blood flow. The chainring represents cardiac resistance. The small and large gears represent heart rate or cardiac pulsation.</a:t>
            </a:r>
          </a:p>
          <a:p>
            <a:pPr algn="just">
              <a:lnSpc>
                <a:spcPts val="3061"/>
              </a:lnSpc>
            </a:pPr>
          </a:p>
          <a:p>
            <a:pPr algn="just">
              <a:lnSpc>
                <a:spcPts val="3061"/>
              </a:lnSpc>
            </a:pPr>
            <a:r>
              <a:rPr lang="en-US" sz="2186">
                <a:solidFill>
                  <a:srgbClr val="03216A"/>
                </a:solidFill>
                <a:latin typeface="ABeeZee"/>
                <a:ea typeface="ABeeZee"/>
                <a:cs typeface="ABeeZee"/>
                <a:sym typeface="ABeeZee"/>
              </a:rPr>
              <a:t>This means that I will modulate the effort so that the body reaches a certain ease, which I call metabolic effort, because it provides an instant renewal of energy rather than exhaustion.”</a:t>
            </a:r>
          </a:p>
          <a:p>
            <a:pPr algn="just">
              <a:lnSpc>
                <a:spcPts val="2501"/>
              </a:lnSpc>
            </a:pPr>
          </a:p>
        </p:txBody>
      </p:sp>
      <p:sp>
        <p:nvSpPr>
          <p:cNvPr name="TextBox 10" id="10"/>
          <p:cNvSpPr txBox="true"/>
          <p:nvPr/>
        </p:nvSpPr>
        <p:spPr>
          <a:xfrm rot="0">
            <a:off x="1097065" y="2207077"/>
            <a:ext cx="1720455" cy="1291737"/>
          </a:xfrm>
          <a:prstGeom prst="rect">
            <a:avLst/>
          </a:prstGeom>
        </p:spPr>
        <p:txBody>
          <a:bodyPr anchor="t" rtlCol="false" tIns="0" lIns="0" bIns="0" rIns="0">
            <a:spAutoFit/>
          </a:bodyPr>
          <a:lstStyle/>
          <a:p>
            <a:pPr algn="l">
              <a:lnSpc>
                <a:spcPts val="10213"/>
              </a:lnSpc>
            </a:pPr>
            <a:r>
              <a:rPr lang="en-US" sz="8511" b="true">
                <a:solidFill>
                  <a:srgbClr val="03216A"/>
                </a:solidFill>
                <a:latin typeface="Rosario Bold"/>
                <a:ea typeface="Rosario Bold"/>
                <a:cs typeface="Rosario Bold"/>
                <a:sym typeface="Rosario Bold"/>
              </a:rPr>
              <a:t>01</a:t>
            </a:r>
          </a:p>
        </p:txBody>
      </p:sp>
      <p:sp>
        <p:nvSpPr>
          <p:cNvPr name="TextBox 11" id="11"/>
          <p:cNvSpPr txBox="true"/>
          <p:nvPr/>
        </p:nvSpPr>
        <p:spPr>
          <a:xfrm rot="0">
            <a:off x="1097065" y="5419823"/>
            <a:ext cx="1720455" cy="1291737"/>
          </a:xfrm>
          <a:prstGeom prst="rect">
            <a:avLst/>
          </a:prstGeom>
        </p:spPr>
        <p:txBody>
          <a:bodyPr anchor="t" rtlCol="false" tIns="0" lIns="0" bIns="0" rIns="0">
            <a:spAutoFit/>
          </a:bodyPr>
          <a:lstStyle/>
          <a:p>
            <a:pPr algn="l">
              <a:lnSpc>
                <a:spcPts val="10213"/>
              </a:lnSpc>
            </a:pPr>
            <a:r>
              <a:rPr lang="en-US" sz="8511" b="true">
                <a:solidFill>
                  <a:srgbClr val="03216A"/>
                </a:solidFill>
                <a:latin typeface="Rosario Bold"/>
                <a:ea typeface="Rosario Bold"/>
                <a:cs typeface="Rosario Bold"/>
                <a:sym typeface="Rosario Bold"/>
              </a:rPr>
              <a:t>02</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313" r="0" b="-9313"/>
            </a:stretch>
          </a:blipFill>
        </p:spPr>
      </p:sp>
      <p:sp>
        <p:nvSpPr>
          <p:cNvPr name="TextBox 3" id="3"/>
          <p:cNvSpPr txBox="true"/>
          <p:nvPr/>
        </p:nvSpPr>
        <p:spPr>
          <a:xfrm rot="0">
            <a:off x="11448849" y="4405678"/>
            <a:ext cx="6383627" cy="3000375"/>
          </a:xfrm>
          <a:prstGeom prst="rect">
            <a:avLst/>
          </a:prstGeom>
        </p:spPr>
        <p:txBody>
          <a:bodyPr anchor="t" rtlCol="false" tIns="0" lIns="0" bIns="0" rIns="0">
            <a:spAutoFit/>
          </a:bodyPr>
          <a:lstStyle/>
          <a:p>
            <a:pPr algn="r">
              <a:lnSpc>
                <a:spcPts val="7813"/>
              </a:lnSpc>
            </a:pPr>
            <a:r>
              <a:rPr lang="en-US" sz="6511" b="true">
                <a:solidFill>
                  <a:srgbClr val="03216A"/>
                </a:solidFill>
                <a:latin typeface="Rosario Bold"/>
                <a:ea typeface="Rosario Bold"/>
                <a:cs typeface="Rosario Bold"/>
                <a:sym typeface="Rosario Bold"/>
              </a:rPr>
              <a:t>What is </a:t>
            </a:r>
          </a:p>
          <a:p>
            <a:pPr algn="r">
              <a:lnSpc>
                <a:spcPts val="7813"/>
              </a:lnSpc>
            </a:pPr>
            <a:r>
              <a:rPr lang="en-US" sz="6511" b="true">
                <a:solidFill>
                  <a:srgbClr val="03216A"/>
                </a:solidFill>
                <a:latin typeface="Rosario Bold"/>
                <a:ea typeface="Rosario Bold"/>
                <a:cs typeface="Rosario Bold"/>
                <a:sym typeface="Rosario Bold"/>
              </a:rPr>
              <a:t>Metabolic</a:t>
            </a:r>
          </a:p>
          <a:p>
            <a:pPr algn="r">
              <a:lnSpc>
                <a:spcPts val="8053"/>
              </a:lnSpc>
            </a:pPr>
            <a:r>
              <a:rPr lang="en-US" sz="6711" b="true">
                <a:solidFill>
                  <a:srgbClr val="03216A"/>
                </a:solidFill>
                <a:latin typeface="Rosario Bold"/>
                <a:ea typeface="Rosario Bold"/>
                <a:cs typeface="Rosario Bold"/>
                <a:sym typeface="Rosario Bold"/>
              </a:rPr>
              <a:t>Synchronization ?</a:t>
            </a:r>
          </a:p>
        </p:txBody>
      </p:sp>
      <p:grpSp>
        <p:nvGrpSpPr>
          <p:cNvPr name="Group 4" id="4"/>
          <p:cNvGrpSpPr/>
          <p:nvPr/>
        </p:nvGrpSpPr>
        <p:grpSpPr>
          <a:xfrm rot="0">
            <a:off x="12832760" y="940533"/>
            <a:ext cx="3993314" cy="2373750"/>
            <a:chOff x="0" y="0"/>
            <a:chExt cx="618669" cy="367756"/>
          </a:xfrm>
        </p:grpSpPr>
        <p:sp>
          <p:nvSpPr>
            <p:cNvPr name="Freeform 5" id="5"/>
            <p:cNvSpPr/>
            <p:nvPr/>
          </p:nvSpPr>
          <p:spPr>
            <a:xfrm flipH="false" flipV="false" rot="0">
              <a:off x="0" y="0"/>
              <a:ext cx="618669" cy="367756"/>
            </a:xfrm>
            <a:custGeom>
              <a:avLst/>
              <a:gdLst/>
              <a:ahLst/>
              <a:cxnLst/>
              <a:rect r="r" b="b" t="t" l="l"/>
              <a:pathLst>
                <a:path h="367756" w="618669">
                  <a:moveTo>
                    <a:pt x="65917" y="0"/>
                  </a:moveTo>
                  <a:lnTo>
                    <a:pt x="552752" y="0"/>
                  </a:lnTo>
                  <a:cubicBezTo>
                    <a:pt x="589157" y="0"/>
                    <a:pt x="618669" y="29512"/>
                    <a:pt x="618669" y="65917"/>
                  </a:cubicBezTo>
                  <a:lnTo>
                    <a:pt x="618669" y="301840"/>
                  </a:lnTo>
                  <a:cubicBezTo>
                    <a:pt x="618669" y="338244"/>
                    <a:pt x="589157" y="367756"/>
                    <a:pt x="552752" y="367756"/>
                  </a:cubicBezTo>
                  <a:lnTo>
                    <a:pt x="65917" y="367756"/>
                  </a:lnTo>
                  <a:cubicBezTo>
                    <a:pt x="29512" y="367756"/>
                    <a:pt x="0" y="338244"/>
                    <a:pt x="0" y="301840"/>
                  </a:cubicBezTo>
                  <a:lnTo>
                    <a:pt x="0" y="65917"/>
                  </a:lnTo>
                  <a:cubicBezTo>
                    <a:pt x="0" y="29512"/>
                    <a:pt x="29512" y="0"/>
                    <a:pt x="65917" y="0"/>
                  </a:cubicBezTo>
                  <a:close/>
                </a:path>
              </a:pathLst>
            </a:custGeom>
            <a:blipFill>
              <a:blip r:embed="rId3"/>
              <a:stretch>
                <a:fillRect l="0" t="-5935" r="0" b="-5935"/>
              </a:stretch>
            </a:blipFill>
            <a:ln w="104775" cap="rnd">
              <a:solidFill>
                <a:srgbClr val="61739D"/>
              </a:solidFill>
              <a:prstDash val="solid"/>
              <a:round/>
            </a:ln>
          </p:spPr>
        </p:sp>
      </p:grpSp>
      <p:sp>
        <p:nvSpPr>
          <p:cNvPr name="Freeform 6" id="6"/>
          <p:cNvSpPr/>
          <p:nvPr/>
        </p:nvSpPr>
        <p:spPr>
          <a:xfrm flipH="true" flipV="true" rot="5400000">
            <a:off x="9600713" y="7920426"/>
            <a:ext cx="2955144" cy="2675749"/>
          </a:xfrm>
          <a:custGeom>
            <a:avLst/>
            <a:gdLst/>
            <a:ahLst/>
            <a:cxnLst/>
            <a:rect r="r" b="b" t="t" l="l"/>
            <a:pathLst>
              <a:path h="2675749" w="2955144">
                <a:moveTo>
                  <a:pt x="2955145" y="2675748"/>
                </a:moveTo>
                <a:lnTo>
                  <a:pt x="0" y="2675748"/>
                </a:lnTo>
                <a:lnTo>
                  <a:pt x="0" y="0"/>
                </a:lnTo>
                <a:lnTo>
                  <a:pt x="2955145" y="0"/>
                </a:lnTo>
                <a:lnTo>
                  <a:pt x="2955145" y="2675748"/>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7089717" y="1028700"/>
            <a:ext cx="2384082" cy="736898"/>
          </a:xfrm>
          <a:custGeom>
            <a:avLst/>
            <a:gdLst/>
            <a:ahLst/>
            <a:cxnLst/>
            <a:rect r="r" b="b" t="t" l="l"/>
            <a:pathLst>
              <a:path h="736898" w="2384082">
                <a:moveTo>
                  <a:pt x="0" y="0"/>
                </a:moveTo>
                <a:lnTo>
                  <a:pt x="2384081" y="0"/>
                </a:lnTo>
                <a:lnTo>
                  <a:pt x="2384081" y="736898"/>
                </a:lnTo>
                <a:lnTo>
                  <a:pt x="0" y="73689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10511336" y="4573600"/>
            <a:ext cx="1535520" cy="1535520"/>
          </a:xfrm>
          <a:custGeom>
            <a:avLst/>
            <a:gdLst/>
            <a:ahLst/>
            <a:cxnLst/>
            <a:rect r="r" b="b" t="t" l="l"/>
            <a:pathLst>
              <a:path h="1535520" w="1535520">
                <a:moveTo>
                  <a:pt x="0" y="0"/>
                </a:moveTo>
                <a:lnTo>
                  <a:pt x="1535520" y="0"/>
                </a:lnTo>
                <a:lnTo>
                  <a:pt x="1535520" y="1535520"/>
                </a:lnTo>
                <a:lnTo>
                  <a:pt x="0" y="153552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9" id="9"/>
          <p:cNvSpPr txBox="true"/>
          <p:nvPr/>
        </p:nvSpPr>
        <p:spPr>
          <a:xfrm rot="0">
            <a:off x="1028700" y="3266659"/>
            <a:ext cx="9277454" cy="2830376"/>
          </a:xfrm>
          <a:prstGeom prst="rect">
            <a:avLst/>
          </a:prstGeom>
        </p:spPr>
        <p:txBody>
          <a:bodyPr anchor="t" rtlCol="false" tIns="0" lIns="0" bIns="0" rIns="0">
            <a:spAutoFit/>
          </a:bodyPr>
          <a:lstStyle/>
          <a:p>
            <a:pPr algn="l">
              <a:lnSpc>
                <a:spcPts val="2545"/>
              </a:lnSpc>
            </a:pPr>
            <a:r>
              <a:rPr lang="en-US" sz="1817">
                <a:solidFill>
                  <a:srgbClr val="03216A"/>
                </a:solidFill>
                <a:latin typeface="ABeeZee"/>
                <a:ea typeface="ABeeZee"/>
                <a:cs typeface="ABeeZee"/>
                <a:sym typeface="ABeeZee"/>
              </a:rPr>
              <a:t>It</a:t>
            </a:r>
            <a:r>
              <a:rPr lang="en-US" sz="1817">
                <a:solidFill>
                  <a:srgbClr val="03216A"/>
                </a:solidFill>
                <a:latin typeface="ABeeZee"/>
                <a:ea typeface="ABeeZee"/>
                <a:cs typeface="ABeeZee"/>
                <a:sym typeface="ABeeZee"/>
              </a:rPr>
              <a:t> is a unique protocol designed to naturally stimulate the endocrine system, and trigger the release of neurotransmitters using very specific and adaptive heart frequencies through targeted efforts. As a result, energy levels, endurance, and vitality increase significantly, allowing for complete and faster recovery from fatigue— whether caused by health issues or intense athletic training.</a:t>
            </a:r>
          </a:p>
          <a:p>
            <a:pPr algn="l">
              <a:lnSpc>
                <a:spcPts val="2545"/>
              </a:lnSpc>
            </a:pPr>
            <a:r>
              <a:rPr lang="en-US" sz="1817">
                <a:solidFill>
                  <a:srgbClr val="03216A"/>
                </a:solidFill>
                <a:latin typeface="ABeeZee"/>
                <a:ea typeface="ABeeZee"/>
                <a:cs typeface="ABeeZee"/>
                <a:sym typeface="ABeeZee"/>
              </a:rPr>
              <a:t> </a:t>
            </a:r>
          </a:p>
          <a:p>
            <a:pPr algn="l">
              <a:lnSpc>
                <a:spcPts val="2545"/>
              </a:lnSpc>
            </a:pPr>
            <a:r>
              <a:rPr lang="en-US" sz="1817">
                <a:solidFill>
                  <a:srgbClr val="03216A"/>
                </a:solidFill>
                <a:latin typeface="ABeeZee"/>
                <a:ea typeface="ABeeZee"/>
                <a:cs typeface="ABeeZee"/>
                <a:sym typeface="ABeeZee"/>
              </a:rPr>
              <a:t>This method can be followed universally and successfully by people at any age or in any physical condition.</a:t>
            </a:r>
          </a:p>
          <a:p>
            <a:pPr algn="l">
              <a:lnSpc>
                <a:spcPts val="2545"/>
              </a:lnSpc>
            </a:pPr>
          </a:p>
        </p:txBody>
      </p:sp>
      <p:sp>
        <p:nvSpPr>
          <p:cNvPr name="TextBox 10" id="10"/>
          <p:cNvSpPr txBox="true"/>
          <p:nvPr/>
        </p:nvSpPr>
        <p:spPr>
          <a:xfrm rot="0">
            <a:off x="1028700" y="6099595"/>
            <a:ext cx="9032629" cy="2295525"/>
          </a:xfrm>
          <a:prstGeom prst="rect">
            <a:avLst/>
          </a:prstGeom>
        </p:spPr>
        <p:txBody>
          <a:bodyPr anchor="t" rtlCol="false" tIns="0" lIns="0" bIns="0" rIns="0">
            <a:spAutoFit/>
          </a:bodyPr>
          <a:lstStyle/>
          <a:p>
            <a:pPr algn="l">
              <a:lnSpc>
                <a:spcPts val="2266"/>
              </a:lnSpc>
              <a:spcBef>
                <a:spcPct val="0"/>
              </a:spcBef>
            </a:pPr>
            <a:r>
              <a:rPr lang="en-US" sz="1889">
                <a:solidFill>
                  <a:srgbClr val="03216A"/>
                </a:solidFill>
                <a:latin typeface="ABeeZee"/>
                <a:ea typeface="ABeeZee"/>
                <a:cs typeface="ABeeZee"/>
                <a:sym typeface="ABeeZee"/>
              </a:rPr>
              <a:t>Its</a:t>
            </a:r>
            <a:r>
              <a:rPr lang="en-US" sz="1889">
                <a:solidFill>
                  <a:srgbClr val="03216A"/>
                </a:solidFill>
                <a:latin typeface="ABeeZee"/>
                <a:ea typeface="ABeeZee"/>
                <a:cs typeface="ABeeZee"/>
                <a:sym typeface="ABeeZee"/>
              </a:rPr>
              <a:t> direct and positive impact on the health of patients represents a major breakthrough in physical training because it applies to anyone:</a:t>
            </a:r>
          </a:p>
          <a:p>
            <a:pPr algn="ctr">
              <a:lnSpc>
                <a:spcPts val="2266"/>
              </a:lnSpc>
              <a:spcBef>
                <a:spcPct val="0"/>
              </a:spcBef>
            </a:pPr>
          </a:p>
          <a:p>
            <a:pPr algn="l" marL="407865" indent="-203932" lvl="1">
              <a:lnSpc>
                <a:spcPts val="2266"/>
              </a:lnSpc>
              <a:spcBef>
                <a:spcPct val="0"/>
              </a:spcBef>
              <a:buFont typeface="Arial"/>
              <a:buChar char="•"/>
            </a:pPr>
            <a:r>
              <a:rPr lang="en-US" sz="1889">
                <a:solidFill>
                  <a:srgbClr val="03216A"/>
                </a:solidFill>
                <a:latin typeface="ABeeZee"/>
                <a:ea typeface="ABeeZee"/>
                <a:cs typeface="ABeeZee"/>
                <a:sym typeface="ABeeZee"/>
              </a:rPr>
              <a:t>People with Minor to Major Health Issues</a:t>
            </a:r>
          </a:p>
          <a:p>
            <a:pPr algn="l" marL="407865" indent="-203932" lvl="1">
              <a:lnSpc>
                <a:spcPts val="2266"/>
              </a:lnSpc>
              <a:spcBef>
                <a:spcPct val="0"/>
              </a:spcBef>
              <a:buFont typeface="Arial"/>
              <a:buChar char="•"/>
            </a:pPr>
            <a:r>
              <a:rPr lang="en-US" sz="1889">
                <a:solidFill>
                  <a:srgbClr val="03216A"/>
                </a:solidFill>
                <a:latin typeface="ABeeZee"/>
                <a:ea typeface="ABeeZee"/>
                <a:cs typeface="ABeeZee"/>
                <a:sym typeface="ABeeZee"/>
              </a:rPr>
              <a:t>Professional and Amateur Athletes</a:t>
            </a:r>
          </a:p>
          <a:p>
            <a:pPr algn="l" marL="407865" indent="-203932" lvl="1">
              <a:lnSpc>
                <a:spcPts val="2266"/>
              </a:lnSpc>
              <a:spcBef>
                <a:spcPct val="0"/>
              </a:spcBef>
              <a:buFont typeface="Arial"/>
              <a:buChar char="•"/>
            </a:pPr>
            <a:r>
              <a:rPr lang="en-US" sz="1889">
                <a:solidFill>
                  <a:srgbClr val="03216A"/>
                </a:solidFill>
                <a:latin typeface="ABeeZee"/>
                <a:ea typeface="ABeeZee"/>
                <a:cs typeface="ABeeZee"/>
                <a:sym typeface="ABeeZee"/>
              </a:rPr>
              <a:t>The military or special forces</a:t>
            </a:r>
          </a:p>
          <a:p>
            <a:pPr algn="l">
              <a:lnSpc>
                <a:spcPts val="2266"/>
              </a:lnSpc>
              <a:spcBef>
                <a:spcPct val="0"/>
              </a:spcBef>
            </a:pPr>
          </a:p>
          <a:p>
            <a:pPr algn="l">
              <a:lnSpc>
                <a:spcPts val="2266"/>
              </a:lnSpc>
            </a:pP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313" r="0" b="-9313"/>
            </a:stretch>
          </a:blipFill>
        </p:spPr>
      </p:sp>
      <p:sp>
        <p:nvSpPr>
          <p:cNvPr name="Freeform 3" id="3"/>
          <p:cNvSpPr/>
          <p:nvPr/>
        </p:nvSpPr>
        <p:spPr>
          <a:xfrm flipH="false" flipV="false" rot="0">
            <a:off x="3010171" y="5415771"/>
            <a:ext cx="3595332" cy="3595332"/>
          </a:xfrm>
          <a:custGeom>
            <a:avLst/>
            <a:gdLst/>
            <a:ahLst/>
            <a:cxnLst/>
            <a:rect r="r" b="b" t="t" l="l"/>
            <a:pathLst>
              <a:path h="3595332" w="3595332">
                <a:moveTo>
                  <a:pt x="0" y="0"/>
                </a:moveTo>
                <a:lnTo>
                  <a:pt x="3595332" y="0"/>
                </a:lnTo>
                <a:lnTo>
                  <a:pt x="3595332" y="3595333"/>
                </a:lnTo>
                <a:lnTo>
                  <a:pt x="0" y="359533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771700" y="5143500"/>
            <a:ext cx="2476942" cy="2476942"/>
          </a:xfrm>
          <a:custGeom>
            <a:avLst/>
            <a:gdLst/>
            <a:ahLst/>
            <a:cxnLst/>
            <a:rect r="r" b="b" t="t" l="l"/>
            <a:pathLst>
              <a:path h="2476942" w="2476942">
                <a:moveTo>
                  <a:pt x="0" y="0"/>
                </a:moveTo>
                <a:lnTo>
                  <a:pt x="2476942" y="0"/>
                </a:lnTo>
                <a:lnTo>
                  <a:pt x="2476942" y="2476942"/>
                </a:lnTo>
                <a:lnTo>
                  <a:pt x="0" y="247694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0">
            <a:off x="918594" y="990139"/>
            <a:ext cx="4684108" cy="2886796"/>
          </a:xfrm>
          <a:custGeom>
            <a:avLst/>
            <a:gdLst/>
            <a:ahLst/>
            <a:cxnLst/>
            <a:rect r="r" b="b" t="t" l="l"/>
            <a:pathLst>
              <a:path h="2886796" w="4684108">
                <a:moveTo>
                  <a:pt x="0" y="0"/>
                </a:moveTo>
                <a:lnTo>
                  <a:pt x="4684107" y="0"/>
                </a:lnTo>
                <a:lnTo>
                  <a:pt x="4684107" y="2886797"/>
                </a:lnTo>
                <a:lnTo>
                  <a:pt x="0" y="2886797"/>
                </a:lnTo>
                <a:lnTo>
                  <a:pt x="0" y="0"/>
                </a:lnTo>
                <a:close/>
              </a:path>
            </a:pathLst>
          </a:custGeom>
          <a:blipFill>
            <a:blip r:embed="rId7"/>
            <a:stretch>
              <a:fillRect l="0" t="-8173" r="0" b="0"/>
            </a:stretch>
          </a:blipFill>
        </p:spPr>
      </p:sp>
      <p:sp>
        <p:nvSpPr>
          <p:cNvPr name="TextBox 6" id="6"/>
          <p:cNvSpPr txBox="true"/>
          <p:nvPr/>
        </p:nvSpPr>
        <p:spPr>
          <a:xfrm rot="0">
            <a:off x="6170980" y="952500"/>
            <a:ext cx="11675981" cy="4844587"/>
          </a:xfrm>
          <a:prstGeom prst="rect">
            <a:avLst/>
          </a:prstGeom>
        </p:spPr>
        <p:txBody>
          <a:bodyPr anchor="t" rtlCol="false" tIns="0" lIns="0" bIns="0" rIns="0">
            <a:spAutoFit/>
          </a:bodyPr>
          <a:lstStyle/>
          <a:p>
            <a:pPr algn="just">
              <a:lnSpc>
                <a:spcPts val="4736"/>
              </a:lnSpc>
            </a:pPr>
            <a:r>
              <a:rPr lang="en-US" sz="3383">
                <a:solidFill>
                  <a:srgbClr val="03216A"/>
                </a:solidFill>
                <a:latin typeface="ABeeZee"/>
                <a:ea typeface="ABeeZee"/>
                <a:cs typeface="ABeeZee"/>
                <a:sym typeface="ABeeZee"/>
              </a:rPr>
              <a:t>People with Mino</a:t>
            </a:r>
            <a:r>
              <a:rPr lang="en-US" sz="3383">
                <a:solidFill>
                  <a:srgbClr val="03216A"/>
                </a:solidFill>
                <a:latin typeface="ABeeZee"/>
                <a:ea typeface="ABeeZee"/>
                <a:cs typeface="ABeeZee"/>
                <a:sym typeface="ABeeZee"/>
              </a:rPr>
              <a:t>r to Major Health Issues</a:t>
            </a:r>
          </a:p>
          <a:p>
            <a:pPr algn="just">
              <a:lnSpc>
                <a:spcPts val="2476"/>
              </a:lnSpc>
            </a:pPr>
            <a:r>
              <a:rPr lang="en-US" sz="1768">
                <a:solidFill>
                  <a:srgbClr val="03216A"/>
                </a:solidFill>
                <a:latin typeface="ABeeZee"/>
                <a:ea typeface="ABeeZee"/>
                <a:cs typeface="ABeeZee"/>
                <a:sym typeface="ABeeZee"/>
              </a:rPr>
              <a:t>This program has been successfully followed by individuals suffering from severe chronic fatigue, fibromyalgia, migraines, heart problems, hypertension, burnout, depression, etc. (See testimonials at the end of this presentation.)</a:t>
            </a:r>
          </a:p>
          <a:p>
            <a:pPr algn="just">
              <a:lnSpc>
                <a:spcPts val="2476"/>
              </a:lnSpc>
            </a:pPr>
          </a:p>
          <a:p>
            <a:pPr algn="just">
              <a:lnSpc>
                <a:spcPts val="2476"/>
              </a:lnSpc>
            </a:pPr>
          </a:p>
          <a:p>
            <a:pPr algn="just">
              <a:lnSpc>
                <a:spcPts val="4736"/>
              </a:lnSpc>
            </a:pPr>
            <a:r>
              <a:rPr lang="en-US" sz="3383">
                <a:solidFill>
                  <a:srgbClr val="03216A"/>
                </a:solidFill>
                <a:latin typeface="ABeeZee"/>
                <a:ea typeface="ABeeZee"/>
                <a:cs typeface="ABeeZee"/>
                <a:sym typeface="ABeeZee"/>
              </a:rPr>
              <a:t>Professional and Amateur Athletes</a:t>
            </a:r>
          </a:p>
          <a:p>
            <a:pPr algn="just">
              <a:lnSpc>
                <a:spcPts val="2476"/>
              </a:lnSpc>
            </a:pPr>
            <a:r>
              <a:rPr lang="en-US" sz="1768">
                <a:solidFill>
                  <a:srgbClr val="03216A"/>
                </a:solidFill>
                <a:latin typeface="ABeeZee"/>
                <a:ea typeface="ABeeZee"/>
                <a:cs typeface="ABeeZee"/>
                <a:sym typeface="ABeeZee"/>
              </a:rPr>
              <a:t>Athletes can increase their performance and accelerate their recovery time before, during, and after training or competitions—without using supplements (legal or otherwise). This unique program complements their usual training routines and enables faster and more complete recovery, improving overall performance and reducing the risk of injury. Metabolic synchronization has helped professional athletes in motorsports, tennis, football/soccer, etc. (See testimonials.)</a:t>
            </a:r>
          </a:p>
          <a:p>
            <a:pPr algn="just">
              <a:lnSpc>
                <a:spcPts val="4736"/>
              </a:lnSpc>
            </a:pPr>
          </a:p>
        </p:txBody>
      </p:sp>
      <p:sp>
        <p:nvSpPr>
          <p:cNvPr name="TextBox 7" id="7"/>
          <p:cNvSpPr txBox="true"/>
          <p:nvPr/>
        </p:nvSpPr>
        <p:spPr>
          <a:xfrm rot="0">
            <a:off x="6963460" y="5413374"/>
            <a:ext cx="10883501" cy="4206644"/>
          </a:xfrm>
          <a:prstGeom prst="rect">
            <a:avLst/>
          </a:prstGeom>
        </p:spPr>
        <p:txBody>
          <a:bodyPr anchor="t" rtlCol="false" tIns="0" lIns="0" bIns="0" rIns="0">
            <a:spAutoFit/>
          </a:bodyPr>
          <a:lstStyle/>
          <a:p>
            <a:pPr algn="just">
              <a:lnSpc>
                <a:spcPts val="4667"/>
              </a:lnSpc>
            </a:pPr>
            <a:r>
              <a:rPr lang="en-US" sz="3334">
                <a:solidFill>
                  <a:srgbClr val="03216A"/>
                </a:solidFill>
                <a:latin typeface="ABeeZee"/>
                <a:ea typeface="ABeeZee"/>
                <a:cs typeface="ABeeZee"/>
                <a:sym typeface="ABeeZee"/>
              </a:rPr>
              <a:t>The Military &amp; Special Forces</a:t>
            </a:r>
          </a:p>
          <a:p>
            <a:pPr algn="just">
              <a:lnSpc>
                <a:spcPts val="2567"/>
              </a:lnSpc>
            </a:pPr>
            <a:r>
              <a:rPr lang="en-US" sz="1834">
                <a:solidFill>
                  <a:srgbClr val="03216A"/>
                </a:solidFill>
                <a:latin typeface="ABeeZee"/>
                <a:ea typeface="ABeeZee"/>
                <a:cs typeface="ABeeZee"/>
                <a:sym typeface="ABeeZee"/>
              </a:rPr>
              <a:t>Methodology designed to naturally stimulate the endocrine system and recalibrate metabolic functions. This process triggers the release of key neurotransmitters—dopamine, endorphins, serotonin—resulting in heightened energy levels, increased endurance, improved cognitive clarity, and significantly accelerated recovery. Originally developed through field experience with civilians, athletes, and individuals suffering from severe fatigue, the methodology has proven exceptionally effective for military personnel, special forces operators, tactical units, and individuals exposed to extreme physical and psychological demands such as firefigthers.</a:t>
            </a:r>
          </a:p>
          <a:p>
            <a:pPr algn="just">
              <a:lnSpc>
                <a:spcPts val="4107"/>
              </a:lnSpc>
            </a:pPr>
          </a:p>
          <a:p>
            <a:pPr algn="just">
              <a:lnSpc>
                <a:spcPts val="2567"/>
              </a:lnSpc>
            </a:pPr>
          </a:p>
          <a:p>
            <a:pPr algn="just">
              <a:lnSpc>
                <a:spcPts val="4107"/>
              </a:lnSpc>
            </a:pP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313" r="0" b="-9313"/>
            </a:stretch>
          </a:blipFill>
        </p:spPr>
      </p:sp>
      <p:grpSp>
        <p:nvGrpSpPr>
          <p:cNvPr name="Group 3" id="3"/>
          <p:cNvGrpSpPr/>
          <p:nvPr/>
        </p:nvGrpSpPr>
        <p:grpSpPr>
          <a:xfrm rot="0">
            <a:off x="2056080" y="1349391"/>
            <a:ext cx="3993314" cy="3050119"/>
            <a:chOff x="0" y="0"/>
            <a:chExt cx="618669" cy="472543"/>
          </a:xfrm>
        </p:grpSpPr>
        <p:sp>
          <p:nvSpPr>
            <p:cNvPr name="Freeform 4" id="4"/>
            <p:cNvSpPr/>
            <p:nvPr/>
          </p:nvSpPr>
          <p:spPr>
            <a:xfrm flipH="false" flipV="false" rot="0">
              <a:off x="0" y="0"/>
              <a:ext cx="618669" cy="472543"/>
            </a:xfrm>
            <a:custGeom>
              <a:avLst/>
              <a:gdLst/>
              <a:ahLst/>
              <a:cxnLst/>
              <a:rect r="r" b="b" t="t" l="l"/>
              <a:pathLst>
                <a:path h="472543" w="618669">
                  <a:moveTo>
                    <a:pt x="65917" y="0"/>
                  </a:moveTo>
                  <a:lnTo>
                    <a:pt x="552752" y="0"/>
                  </a:lnTo>
                  <a:cubicBezTo>
                    <a:pt x="589157" y="0"/>
                    <a:pt x="618669" y="29512"/>
                    <a:pt x="618669" y="65917"/>
                  </a:cubicBezTo>
                  <a:lnTo>
                    <a:pt x="618669" y="406627"/>
                  </a:lnTo>
                  <a:cubicBezTo>
                    <a:pt x="618669" y="443031"/>
                    <a:pt x="589157" y="472543"/>
                    <a:pt x="552752" y="472543"/>
                  </a:cubicBezTo>
                  <a:lnTo>
                    <a:pt x="65917" y="472543"/>
                  </a:lnTo>
                  <a:cubicBezTo>
                    <a:pt x="29512" y="472543"/>
                    <a:pt x="0" y="443031"/>
                    <a:pt x="0" y="406627"/>
                  </a:cubicBezTo>
                  <a:lnTo>
                    <a:pt x="0" y="65917"/>
                  </a:lnTo>
                  <a:cubicBezTo>
                    <a:pt x="0" y="29512"/>
                    <a:pt x="29512" y="0"/>
                    <a:pt x="65917" y="0"/>
                  </a:cubicBezTo>
                  <a:close/>
                </a:path>
              </a:pathLst>
            </a:custGeom>
            <a:blipFill>
              <a:blip r:embed="rId3"/>
              <a:stretch>
                <a:fillRect l="-7429" t="0" r="-7429" b="0"/>
              </a:stretch>
            </a:blipFill>
            <a:ln w="104775" cap="rnd">
              <a:solidFill>
                <a:srgbClr val="61739D"/>
              </a:solidFill>
              <a:prstDash val="solid"/>
              <a:round/>
            </a:ln>
          </p:spPr>
        </p:sp>
      </p:grpSp>
      <p:sp>
        <p:nvSpPr>
          <p:cNvPr name="Freeform 5" id="5"/>
          <p:cNvSpPr/>
          <p:nvPr/>
        </p:nvSpPr>
        <p:spPr>
          <a:xfrm flipH="false" flipV="false" rot="0">
            <a:off x="10320618" y="980942"/>
            <a:ext cx="2384082" cy="736898"/>
          </a:xfrm>
          <a:custGeom>
            <a:avLst/>
            <a:gdLst/>
            <a:ahLst/>
            <a:cxnLst/>
            <a:rect r="r" b="b" t="t" l="l"/>
            <a:pathLst>
              <a:path h="736898" w="2384082">
                <a:moveTo>
                  <a:pt x="0" y="0"/>
                </a:moveTo>
                <a:lnTo>
                  <a:pt x="2384082" y="0"/>
                </a:lnTo>
                <a:lnTo>
                  <a:pt x="2384082" y="736898"/>
                </a:lnTo>
                <a:lnTo>
                  <a:pt x="0" y="73689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5400000">
            <a:off x="13031101" y="-1097607"/>
            <a:ext cx="2955144" cy="2675749"/>
          </a:xfrm>
          <a:custGeom>
            <a:avLst/>
            <a:gdLst/>
            <a:ahLst/>
            <a:cxnLst/>
            <a:rect r="r" b="b" t="t" l="l"/>
            <a:pathLst>
              <a:path h="2675749" w="2955144">
                <a:moveTo>
                  <a:pt x="0" y="0"/>
                </a:moveTo>
                <a:lnTo>
                  <a:pt x="2955145" y="0"/>
                </a:lnTo>
                <a:lnTo>
                  <a:pt x="2955145" y="2675749"/>
                </a:lnTo>
                <a:lnTo>
                  <a:pt x="0" y="267574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11544525" y="8346905"/>
            <a:ext cx="3252549" cy="3252549"/>
          </a:xfrm>
          <a:custGeom>
            <a:avLst/>
            <a:gdLst/>
            <a:ahLst/>
            <a:cxnLst/>
            <a:rect r="r" b="b" t="t" l="l"/>
            <a:pathLst>
              <a:path h="3252549" w="3252549">
                <a:moveTo>
                  <a:pt x="0" y="0"/>
                </a:moveTo>
                <a:lnTo>
                  <a:pt x="3252549" y="0"/>
                </a:lnTo>
                <a:lnTo>
                  <a:pt x="3252549" y="3252549"/>
                </a:lnTo>
                <a:lnTo>
                  <a:pt x="0" y="325254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8" id="8"/>
          <p:cNvSpPr txBox="true"/>
          <p:nvPr/>
        </p:nvSpPr>
        <p:spPr>
          <a:xfrm rot="0">
            <a:off x="7937210" y="5067300"/>
            <a:ext cx="9632108" cy="3106824"/>
          </a:xfrm>
          <a:prstGeom prst="rect">
            <a:avLst/>
          </a:prstGeom>
        </p:spPr>
        <p:txBody>
          <a:bodyPr anchor="t" rtlCol="false" tIns="0" lIns="0" bIns="0" rIns="0">
            <a:spAutoFit/>
          </a:bodyPr>
          <a:lstStyle/>
          <a:p>
            <a:pPr algn="just">
              <a:lnSpc>
                <a:spcPts val="4107"/>
              </a:lnSpc>
            </a:pPr>
            <a:r>
              <a:rPr lang="en-US" sz="2934">
                <a:solidFill>
                  <a:srgbClr val="03216A"/>
                </a:solidFill>
                <a:latin typeface="ABeeZee Bold"/>
                <a:ea typeface="ABeeZee Bold"/>
                <a:cs typeface="ABeeZee Bold"/>
                <a:sym typeface="ABeeZee Bold"/>
              </a:rPr>
              <a:t>Obj</a:t>
            </a:r>
            <a:r>
              <a:rPr lang="en-US" sz="2934">
                <a:solidFill>
                  <a:srgbClr val="03216A"/>
                </a:solidFill>
                <a:latin typeface="ABeeZee Bold"/>
                <a:ea typeface="ABeeZee Bold"/>
                <a:cs typeface="ABeeZee Bold"/>
                <a:sym typeface="ABeeZee Bold"/>
              </a:rPr>
              <a:t>ectives of the Method</a:t>
            </a:r>
          </a:p>
          <a:p>
            <a:pPr algn="just">
              <a:lnSpc>
                <a:spcPts val="4107"/>
              </a:lnSpc>
            </a:pPr>
          </a:p>
          <a:p>
            <a:pPr algn="just" marL="482349" indent="-241174" lvl="1">
              <a:lnSpc>
                <a:spcPts val="3127"/>
              </a:lnSpc>
              <a:buFont typeface="Arial"/>
              <a:buChar char="•"/>
            </a:pPr>
            <a:r>
              <a:rPr lang="en-US" sz="2234">
                <a:solidFill>
                  <a:srgbClr val="03216A"/>
                </a:solidFill>
                <a:latin typeface="ABeeZee"/>
                <a:ea typeface="ABeeZee"/>
                <a:cs typeface="ABeeZee"/>
                <a:sym typeface="ABeeZee"/>
              </a:rPr>
              <a:t>Reactivation of the metabolism</a:t>
            </a:r>
          </a:p>
          <a:p>
            <a:pPr algn="just" marL="482349" indent="-241174" lvl="1">
              <a:lnSpc>
                <a:spcPts val="3127"/>
              </a:lnSpc>
              <a:buFont typeface="Arial"/>
              <a:buChar char="•"/>
            </a:pPr>
            <a:r>
              <a:rPr lang="en-US" sz="2234">
                <a:solidFill>
                  <a:srgbClr val="03216A"/>
                </a:solidFill>
                <a:latin typeface="ABeeZee"/>
                <a:ea typeface="ABeeZee"/>
                <a:cs typeface="ABeeZee"/>
                <a:sym typeface="ABeeZee"/>
              </a:rPr>
              <a:t>Improvement of endurance and strength</a:t>
            </a:r>
          </a:p>
          <a:p>
            <a:pPr algn="just" marL="482349" indent="-241174" lvl="1">
              <a:lnSpc>
                <a:spcPts val="3127"/>
              </a:lnSpc>
              <a:buFont typeface="Arial"/>
              <a:buChar char="•"/>
            </a:pPr>
            <a:r>
              <a:rPr lang="en-US" sz="2234">
                <a:solidFill>
                  <a:srgbClr val="03216A"/>
                </a:solidFill>
                <a:latin typeface="ABeeZee"/>
                <a:ea typeface="ABeeZee"/>
                <a:cs typeface="ABeeZee"/>
                <a:sym typeface="ABeeZee"/>
              </a:rPr>
              <a:t>Enhancement of overall health</a:t>
            </a:r>
          </a:p>
          <a:p>
            <a:pPr algn="just" marL="482349" indent="-241174" lvl="1">
              <a:lnSpc>
                <a:spcPts val="3127"/>
              </a:lnSpc>
              <a:buFont typeface="Arial"/>
              <a:buChar char="•"/>
            </a:pPr>
            <a:r>
              <a:rPr lang="en-US" sz="2234">
                <a:solidFill>
                  <a:srgbClr val="03216A"/>
                </a:solidFill>
                <a:latin typeface="ABeeZee"/>
                <a:ea typeface="ABeeZee"/>
                <a:cs typeface="ABeeZee"/>
                <a:sym typeface="ABeeZee"/>
              </a:rPr>
              <a:t>Personalized and progressive sessions</a:t>
            </a:r>
          </a:p>
          <a:p>
            <a:pPr algn="just">
              <a:lnSpc>
                <a:spcPts val="4107"/>
              </a:lnSpc>
            </a:pPr>
          </a:p>
        </p:txBody>
      </p:sp>
      <p:sp>
        <p:nvSpPr>
          <p:cNvPr name="TextBox 9" id="9"/>
          <p:cNvSpPr txBox="true"/>
          <p:nvPr/>
        </p:nvSpPr>
        <p:spPr>
          <a:xfrm rot="0">
            <a:off x="7616680" y="2267119"/>
            <a:ext cx="10345875" cy="2733675"/>
          </a:xfrm>
          <a:prstGeom prst="rect">
            <a:avLst/>
          </a:prstGeom>
        </p:spPr>
        <p:txBody>
          <a:bodyPr anchor="t" rtlCol="false" tIns="0" lIns="0" bIns="0" rIns="0">
            <a:spAutoFit/>
          </a:bodyPr>
          <a:lstStyle/>
          <a:p>
            <a:pPr algn="l">
              <a:lnSpc>
                <a:spcPts val="4094"/>
              </a:lnSpc>
              <a:spcBef>
                <a:spcPct val="0"/>
              </a:spcBef>
            </a:pPr>
            <a:r>
              <a:rPr lang="en-US" b="true" sz="3411">
                <a:solidFill>
                  <a:srgbClr val="03216A"/>
                </a:solidFill>
                <a:latin typeface="Rosario Bold"/>
                <a:ea typeface="Rosario Bold"/>
                <a:cs typeface="Rosario Bold"/>
                <a:sym typeface="Rosario Bold"/>
              </a:rPr>
              <a:t>What Metabolic Synchronization Does NOT Do</a:t>
            </a:r>
          </a:p>
          <a:p>
            <a:pPr algn="l">
              <a:lnSpc>
                <a:spcPts val="4094"/>
              </a:lnSpc>
              <a:spcBef>
                <a:spcPct val="0"/>
              </a:spcBef>
            </a:pPr>
          </a:p>
          <a:p>
            <a:pPr algn="l">
              <a:lnSpc>
                <a:spcPts val="2774"/>
              </a:lnSpc>
              <a:spcBef>
                <a:spcPct val="0"/>
              </a:spcBef>
            </a:pPr>
            <a:r>
              <a:rPr lang="en-US" sz="2311">
                <a:solidFill>
                  <a:srgbClr val="03216A"/>
                </a:solidFill>
                <a:latin typeface="ABeeZee"/>
                <a:ea typeface="ABeeZee"/>
                <a:cs typeface="ABeeZee"/>
                <a:sym typeface="ABeeZee"/>
              </a:rPr>
              <a:t>The method is designed to naturally stimulate the endocrine system, resulting in positive effects on health and performance. It complements—not replaces—traditional medical systems.</a:t>
            </a:r>
          </a:p>
          <a:p>
            <a:pPr algn="l">
              <a:lnSpc>
                <a:spcPts val="2774"/>
              </a:lnSpc>
              <a:spcBef>
                <a:spcPct val="0"/>
              </a:spcBef>
            </a:pPr>
          </a:p>
          <a:p>
            <a:pPr algn="l">
              <a:lnSpc>
                <a:spcPts val="2774"/>
              </a:lnSpc>
              <a:spcBef>
                <a:spcPct val="0"/>
              </a:spcBef>
            </a:pP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313" r="0" b="-9313"/>
            </a:stretch>
          </a:blipFill>
        </p:spPr>
      </p:sp>
      <p:sp>
        <p:nvSpPr>
          <p:cNvPr name="Freeform 3" id="3"/>
          <p:cNvSpPr/>
          <p:nvPr/>
        </p:nvSpPr>
        <p:spPr>
          <a:xfrm flipH="false" flipV="false" rot="0">
            <a:off x="4277592" y="-2144239"/>
            <a:ext cx="3945807" cy="3945807"/>
          </a:xfrm>
          <a:custGeom>
            <a:avLst/>
            <a:gdLst/>
            <a:ahLst/>
            <a:cxnLst/>
            <a:rect r="r" b="b" t="t" l="l"/>
            <a:pathLst>
              <a:path h="3945807" w="3945807">
                <a:moveTo>
                  <a:pt x="0" y="0"/>
                </a:moveTo>
                <a:lnTo>
                  <a:pt x="3945807" y="0"/>
                </a:lnTo>
                <a:lnTo>
                  <a:pt x="3945807" y="3945807"/>
                </a:lnTo>
                <a:lnTo>
                  <a:pt x="0" y="394580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4" id="4"/>
          <p:cNvGrpSpPr/>
          <p:nvPr/>
        </p:nvGrpSpPr>
        <p:grpSpPr>
          <a:xfrm rot="0">
            <a:off x="13017616" y="5805880"/>
            <a:ext cx="3993314" cy="3050119"/>
            <a:chOff x="0" y="0"/>
            <a:chExt cx="618669" cy="472543"/>
          </a:xfrm>
        </p:grpSpPr>
        <p:sp>
          <p:nvSpPr>
            <p:cNvPr name="Freeform 5" id="5"/>
            <p:cNvSpPr/>
            <p:nvPr/>
          </p:nvSpPr>
          <p:spPr>
            <a:xfrm flipH="false" flipV="false" rot="0">
              <a:off x="0" y="0"/>
              <a:ext cx="618669" cy="472543"/>
            </a:xfrm>
            <a:custGeom>
              <a:avLst/>
              <a:gdLst/>
              <a:ahLst/>
              <a:cxnLst/>
              <a:rect r="r" b="b" t="t" l="l"/>
              <a:pathLst>
                <a:path h="472543" w="618669">
                  <a:moveTo>
                    <a:pt x="65917" y="0"/>
                  </a:moveTo>
                  <a:lnTo>
                    <a:pt x="552752" y="0"/>
                  </a:lnTo>
                  <a:cubicBezTo>
                    <a:pt x="589157" y="0"/>
                    <a:pt x="618669" y="29512"/>
                    <a:pt x="618669" y="65917"/>
                  </a:cubicBezTo>
                  <a:lnTo>
                    <a:pt x="618669" y="406627"/>
                  </a:lnTo>
                  <a:cubicBezTo>
                    <a:pt x="618669" y="443031"/>
                    <a:pt x="589157" y="472543"/>
                    <a:pt x="552752" y="472543"/>
                  </a:cubicBezTo>
                  <a:lnTo>
                    <a:pt x="65917" y="472543"/>
                  </a:lnTo>
                  <a:cubicBezTo>
                    <a:pt x="29512" y="472543"/>
                    <a:pt x="0" y="443031"/>
                    <a:pt x="0" y="406627"/>
                  </a:cubicBezTo>
                  <a:lnTo>
                    <a:pt x="0" y="65917"/>
                  </a:lnTo>
                  <a:cubicBezTo>
                    <a:pt x="0" y="29512"/>
                    <a:pt x="29512" y="0"/>
                    <a:pt x="65917" y="0"/>
                  </a:cubicBezTo>
                  <a:close/>
                </a:path>
              </a:pathLst>
            </a:custGeom>
            <a:blipFill>
              <a:blip r:embed="rId5"/>
              <a:stretch>
                <a:fillRect l="-17593" t="0" r="-17593" b="0"/>
              </a:stretch>
            </a:blipFill>
            <a:ln w="104775" cap="rnd">
              <a:solidFill>
                <a:srgbClr val="61739D"/>
              </a:solidFill>
              <a:prstDash val="solid"/>
              <a:round/>
            </a:ln>
          </p:spPr>
        </p:sp>
      </p:grpSp>
      <p:sp>
        <p:nvSpPr>
          <p:cNvPr name="Freeform 6" id="6"/>
          <p:cNvSpPr/>
          <p:nvPr/>
        </p:nvSpPr>
        <p:spPr>
          <a:xfrm flipH="false" flipV="false" rot="0">
            <a:off x="5058455" y="8487550"/>
            <a:ext cx="2384082" cy="736898"/>
          </a:xfrm>
          <a:custGeom>
            <a:avLst/>
            <a:gdLst/>
            <a:ahLst/>
            <a:cxnLst/>
            <a:rect r="r" b="b" t="t" l="l"/>
            <a:pathLst>
              <a:path h="736898" w="2384082">
                <a:moveTo>
                  <a:pt x="0" y="0"/>
                </a:moveTo>
                <a:lnTo>
                  <a:pt x="2384081" y="0"/>
                </a:lnTo>
                <a:lnTo>
                  <a:pt x="2384081" y="736898"/>
                </a:lnTo>
                <a:lnTo>
                  <a:pt x="0" y="73689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7" id="7"/>
          <p:cNvSpPr txBox="true"/>
          <p:nvPr/>
        </p:nvSpPr>
        <p:spPr>
          <a:xfrm rot="0">
            <a:off x="3341395" y="6086127"/>
            <a:ext cx="8310830" cy="1709823"/>
          </a:xfrm>
          <a:prstGeom prst="rect">
            <a:avLst/>
          </a:prstGeom>
        </p:spPr>
        <p:txBody>
          <a:bodyPr anchor="t" rtlCol="false" tIns="0" lIns="0" bIns="0" rIns="0">
            <a:spAutoFit/>
          </a:bodyPr>
          <a:lstStyle/>
          <a:p>
            <a:pPr algn="l">
              <a:lnSpc>
                <a:spcPts val="3407"/>
              </a:lnSpc>
            </a:pPr>
            <a:r>
              <a:rPr lang="en-US" sz="2434">
                <a:solidFill>
                  <a:srgbClr val="03216A"/>
                </a:solidFill>
                <a:latin typeface="ABeeZee"/>
                <a:ea typeface="ABeeZee"/>
                <a:cs typeface="ABeeZee"/>
                <a:sym typeface="ABeeZee"/>
              </a:rPr>
              <a:t>S</a:t>
            </a:r>
            <a:r>
              <a:rPr lang="en-US" sz="2434">
                <a:solidFill>
                  <a:srgbClr val="03216A"/>
                </a:solidFill>
                <a:latin typeface="ABeeZee"/>
                <a:ea typeface="ABeeZee"/>
                <a:cs typeface="ABeeZee"/>
                <a:sym typeface="ABeeZee"/>
              </a:rPr>
              <a:t>essions are adjusted according to each person’s level, goals, and constraints. Progressive management of intensity with active recovery.</a:t>
            </a:r>
          </a:p>
          <a:p>
            <a:pPr algn="l">
              <a:lnSpc>
                <a:spcPts val="3407"/>
              </a:lnSpc>
            </a:pPr>
          </a:p>
        </p:txBody>
      </p:sp>
      <p:sp>
        <p:nvSpPr>
          <p:cNvPr name="TextBox 8" id="8"/>
          <p:cNvSpPr txBox="true"/>
          <p:nvPr/>
        </p:nvSpPr>
        <p:spPr>
          <a:xfrm rot="0">
            <a:off x="1028700" y="2443019"/>
            <a:ext cx="1720455" cy="1291737"/>
          </a:xfrm>
          <a:prstGeom prst="rect">
            <a:avLst/>
          </a:prstGeom>
        </p:spPr>
        <p:txBody>
          <a:bodyPr anchor="t" rtlCol="false" tIns="0" lIns="0" bIns="0" rIns="0">
            <a:spAutoFit/>
          </a:bodyPr>
          <a:lstStyle/>
          <a:p>
            <a:pPr algn="l">
              <a:lnSpc>
                <a:spcPts val="10213"/>
              </a:lnSpc>
            </a:pPr>
            <a:r>
              <a:rPr lang="en-US" sz="8511" b="true">
                <a:solidFill>
                  <a:srgbClr val="03216A"/>
                </a:solidFill>
                <a:latin typeface="Rosario Bold"/>
                <a:ea typeface="Rosario Bold"/>
                <a:cs typeface="Rosario Bold"/>
                <a:sym typeface="Rosario Bold"/>
              </a:rPr>
              <a:t>01</a:t>
            </a:r>
          </a:p>
        </p:txBody>
      </p:sp>
      <p:sp>
        <p:nvSpPr>
          <p:cNvPr name="TextBox 9" id="9"/>
          <p:cNvSpPr txBox="true"/>
          <p:nvPr/>
        </p:nvSpPr>
        <p:spPr>
          <a:xfrm rot="0">
            <a:off x="1028700" y="5805880"/>
            <a:ext cx="1720455" cy="1291737"/>
          </a:xfrm>
          <a:prstGeom prst="rect">
            <a:avLst/>
          </a:prstGeom>
        </p:spPr>
        <p:txBody>
          <a:bodyPr anchor="t" rtlCol="false" tIns="0" lIns="0" bIns="0" rIns="0">
            <a:spAutoFit/>
          </a:bodyPr>
          <a:lstStyle/>
          <a:p>
            <a:pPr algn="l">
              <a:lnSpc>
                <a:spcPts val="10213"/>
              </a:lnSpc>
            </a:pPr>
            <a:r>
              <a:rPr lang="en-US" sz="8511" b="true">
                <a:solidFill>
                  <a:srgbClr val="03216A"/>
                </a:solidFill>
                <a:latin typeface="Rosario Bold"/>
                <a:ea typeface="Rosario Bold"/>
                <a:cs typeface="Rosario Bold"/>
                <a:sym typeface="Rosario Bold"/>
              </a:rPr>
              <a:t>02</a:t>
            </a:r>
          </a:p>
        </p:txBody>
      </p:sp>
      <p:sp>
        <p:nvSpPr>
          <p:cNvPr name="TextBox 10" id="10"/>
          <p:cNvSpPr txBox="true"/>
          <p:nvPr/>
        </p:nvSpPr>
        <p:spPr>
          <a:xfrm rot="0">
            <a:off x="12206912" y="908886"/>
            <a:ext cx="5212985" cy="3886200"/>
          </a:xfrm>
          <a:prstGeom prst="rect">
            <a:avLst/>
          </a:prstGeom>
        </p:spPr>
        <p:txBody>
          <a:bodyPr anchor="t" rtlCol="false" tIns="0" lIns="0" bIns="0" rIns="0">
            <a:spAutoFit/>
          </a:bodyPr>
          <a:lstStyle/>
          <a:p>
            <a:pPr algn="ctr">
              <a:lnSpc>
                <a:spcPts val="10213"/>
              </a:lnSpc>
              <a:spcBef>
                <a:spcPct val="0"/>
              </a:spcBef>
            </a:pPr>
            <a:r>
              <a:rPr lang="en-US" b="true" sz="8511" u="sng">
                <a:solidFill>
                  <a:srgbClr val="03216A"/>
                </a:solidFill>
                <a:latin typeface="Rosario Bold"/>
                <a:ea typeface="Rosario Bold"/>
                <a:cs typeface="Rosario Bold"/>
                <a:sym typeface="Rosario Bold"/>
              </a:rPr>
              <a:t>Method</a:t>
            </a:r>
            <a:r>
              <a:rPr lang="en-US" b="true" sz="8511">
                <a:solidFill>
                  <a:srgbClr val="03216A"/>
                </a:solidFill>
                <a:latin typeface="Rosario Bold"/>
                <a:ea typeface="Rosario Bold"/>
                <a:cs typeface="Rosario Bold"/>
                <a:sym typeface="Rosario Bold"/>
              </a:rPr>
              <a:t>: “Metabolic Effort”</a:t>
            </a:r>
          </a:p>
        </p:txBody>
      </p:sp>
      <p:sp>
        <p:nvSpPr>
          <p:cNvPr name="TextBox 11" id="11"/>
          <p:cNvSpPr txBox="true"/>
          <p:nvPr/>
        </p:nvSpPr>
        <p:spPr>
          <a:xfrm rot="0">
            <a:off x="3287465" y="2851986"/>
            <a:ext cx="8919447" cy="2533650"/>
          </a:xfrm>
          <a:prstGeom prst="rect">
            <a:avLst/>
          </a:prstGeom>
        </p:spPr>
        <p:txBody>
          <a:bodyPr anchor="t" rtlCol="false" tIns="0" lIns="0" bIns="0" rIns="0">
            <a:spAutoFit/>
          </a:bodyPr>
          <a:lstStyle/>
          <a:p>
            <a:pPr algn="l">
              <a:lnSpc>
                <a:spcPts val="2894"/>
              </a:lnSpc>
              <a:spcBef>
                <a:spcPct val="0"/>
              </a:spcBef>
            </a:pPr>
            <a:r>
              <a:rPr lang="en-US" sz="2411">
                <a:solidFill>
                  <a:srgbClr val="03216A"/>
                </a:solidFill>
                <a:latin typeface="ABeeZee"/>
                <a:ea typeface="ABeeZee"/>
                <a:cs typeface="ABeeZee"/>
                <a:sym typeface="ABeeZee"/>
              </a:rPr>
              <a:t>My method combines protocols in which I guide cardiovascular frequencies and pulsations during effort in order to optimize nervous and cognitive functions, and to maintain or recover the body’s integrity with the objective of ensuring its defense, promoting the repair of lesions, and stimulating energy expenditure with a clear improvement in body composition.</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313" r="0" b="-9313"/>
            </a:stretch>
          </a:blipFill>
        </p:spPr>
      </p:sp>
      <p:grpSp>
        <p:nvGrpSpPr>
          <p:cNvPr name="Group 3" id="3"/>
          <p:cNvGrpSpPr/>
          <p:nvPr/>
        </p:nvGrpSpPr>
        <p:grpSpPr>
          <a:xfrm rot="0">
            <a:off x="12297957" y="1260847"/>
            <a:ext cx="4763170" cy="3638140"/>
            <a:chOff x="0" y="0"/>
            <a:chExt cx="618669" cy="472543"/>
          </a:xfrm>
        </p:grpSpPr>
        <p:sp>
          <p:nvSpPr>
            <p:cNvPr name="Freeform 4" id="4"/>
            <p:cNvSpPr/>
            <p:nvPr/>
          </p:nvSpPr>
          <p:spPr>
            <a:xfrm flipH="false" flipV="false" rot="0">
              <a:off x="0" y="0"/>
              <a:ext cx="618669" cy="472543"/>
            </a:xfrm>
            <a:custGeom>
              <a:avLst/>
              <a:gdLst/>
              <a:ahLst/>
              <a:cxnLst/>
              <a:rect r="r" b="b" t="t" l="l"/>
              <a:pathLst>
                <a:path h="472543" w="618669">
                  <a:moveTo>
                    <a:pt x="55263" y="0"/>
                  </a:moveTo>
                  <a:lnTo>
                    <a:pt x="563406" y="0"/>
                  </a:lnTo>
                  <a:cubicBezTo>
                    <a:pt x="593927" y="0"/>
                    <a:pt x="618669" y="24742"/>
                    <a:pt x="618669" y="55263"/>
                  </a:cubicBezTo>
                  <a:lnTo>
                    <a:pt x="618669" y="417281"/>
                  </a:lnTo>
                  <a:cubicBezTo>
                    <a:pt x="618669" y="447801"/>
                    <a:pt x="593927" y="472543"/>
                    <a:pt x="563406" y="472543"/>
                  </a:cubicBezTo>
                  <a:lnTo>
                    <a:pt x="55263" y="472543"/>
                  </a:lnTo>
                  <a:cubicBezTo>
                    <a:pt x="24742" y="472543"/>
                    <a:pt x="0" y="447801"/>
                    <a:pt x="0" y="417281"/>
                  </a:cubicBezTo>
                  <a:lnTo>
                    <a:pt x="0" y="55263"/>
                  </a:lnTo>
                  <a:cubicBezTo>
                    <a:pt x="0" y="24742"/>
                    <a:pt x="24742" y="0"/>
                    <a:pt x="55263" y="0"/>
                  </a:cubicBezTo>
                  <a:close/>
                </a:path>
              </a:pathLst>
            </a:custGeom>
            <a:blipFill>
              <a:blip r:embed="rId3"/>
              <a:stretch>
                <a:fillRect l="-7429" t="0" r="-7429" b="0"/>
              </a:stretch>
            </a:blipFill>
            <a:ln w="104775" cap="rnd">
              <a:solidFill>
                <a:srgbClr val="61739D"/>
              </a:solidFill>
              <a:prstDash val="solid"/>
              <a:round/>
            </a:ln>
          </p:spPr>
        </p:sp>
      </p:grpSp>
      <p:sp>
        <p:nvSpPr>
          <p:cNvPr name="Freeform 5" id="5"/>
          <p:cNvSpPr/>
          <p:nvPr/>
        </p:nvSpPr>
        <p:spPr>
          <a:xfrm flipH="true" flipV="true" rot="5400000">
            <a:off x="4485580" y="8435453"/>
            <a:ext cx="2955144" cy="2675749"/>
          </a:xfrm>
          <a:custGeom>
            <a:avLst/>
            <a:gdLst/>
            <a:ahLst/>
            <a:cxnLst/>
            <a:rect r="r" b="b" t="t" l="l"/>
            <a:pathLst>
              <a:path h="2675749" w="2955144">
                <a:moveTo>
                  <a:pt x="2955144" y="2675749"/>
                </a:moveTo>
                <a:lnTo>
                  <a:pt x="0" y="2675749"/>
                </a:lnTo>
                <a:lnTo>
                  <a:pt x="0" y="0"/>
                </a:lnTo>
                <a:lnTo>
                  <a:pt x="2955144" y="0"/>
                </a:lnTo>
                <a:lnTo>
                  <a:pt x="2955144" y="2675749"/>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4916945" y="1028700"/>
            <a:ext cx="2384082" cy="736898"/>
          </a:xfrm>
          <a:custGeom>
            <a:avLst/>
            <a:gdLst/>
            <a:ahLst/>
            <a:cxnLst/>
            <a:rect r="r" b="b" t="t" l="l"/>
            <a:pathLst>
              <a:path h="736898" w="2384082">
                <a:moveTo>
                  <a:pt x="0" y="0"/>
                </a:moveTo>
                <a:lnTo>
                  <a:pt x="2384081" y="0"/>
                </a:lnTo>
                <a:lnTo>
                  <a:pt x="2384081" y="736898"/>
                </a:lnTo>
                <a:lnTo>
                  <a:pt x="0" y="73689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10310526" y="1055207"/>
            <a:ext cx="1374574" cy="1374574"/>
          </a:xfrm>
          <a:custGeom>
            <a:avLst/>
            <a:gdLst/>
            <a:ahLst/>
            <a:cxnLst/>
            <a:rect r="r" b="b" t="t" l="l"/>
            <a:pathLst>
              <a:path h="1374574" w="1374574">
                <a:moveTo>
                  <a:pt x="0" y="0"/>
                </a:moveTo>
                <a:lnTo>
                  <a:pt x="1374574" y="0"/>
                </a:lnTo>
                <a:lnTo>
                  <a:pt x="1374574" y="1374574"/>
                </a:lnTo>
                <a:lnTo>
                  <a:pt x="0" y="137457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8" id="8"/>
          <p:cNvSpPr/>
          <p:nvPr/>
        </p:nvSpPr>
        <p:spPr>
          <a:xfrm flipH="false" flipV="false" rot="0">
            <a:off x="10053012" y="4573600"/>
            <a:ext cx="1290196" cy="1290196"/>
          </a:xfrm>
          <a:custGeom>
            <a:avLst/>
            <a:gdLst/>
            <a:ahLst/>
            <a:cxnLst/>
            <a:rect r="r" b="b" t="t" l="l"/>
            <a:pathLst>
              <a:path h="1290196" w="1290196">
                <a:moveTo>
                  <a:pt x="0" y="0"/>
                </a:moveTo>
                <a:lnTo>
                  <a:pt x="1290197" y="0"/>
                </a:lnTo>
                <a:lnTo>
                  <a:pt x="1290197" y="1290197"/>
                </a:lnTo>
                <a:lnTo>
                  <a:pt x="0" y="1290197"/>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9" id="9"/>
          <p:cNvSpPr/>
          <p:nvPr/>
        </p:nvSpPr>
        <p:spPr>
          <a:xfrm flipH="false" flipV="false" rot="0">
            <a:off x="797612" y="2551899"/>
            <a:ext cx="688319" cy="433641"/>
          </a:xfrm>
          <a:custGeom>
            <a:avLst/>
            <a:gdLst/>
            <a:ahLst/>
            <a:cxnLst/>
            <a:rect r="r" b="b" t="t" l="l"/>
            <a:pathLst>
              <a:path h="433641" w="688319">
                <a:moveTo>
                  <a:pt x="0" y="0"/>
                </a:moveTo>
                <a:lnTo>
                  <a:pt x="688319" y="0"/>
                </a:lnTo>
                <a:lnTo>
                  <a:pt x="688319" y="433641"/>
                </a:lnTo>
                <a:lnTo>
                  <a:pt x="0" y="433641"/>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10" id="10"/>
          <p:cNvSpPr txBox="true"/>
          <p:nvPr/>
        </p:nvSpPr>
        <p:spPr>
          <a:xfrm rot="0">
            <a:off x="671776" y="2546909"/>
            <a:ext cx="9752733" cy="5859199"/>
          </a:xfrm>
          <a:prstGeom prst="rect">
            <a:avLst/>
          </a:prstGeom>
        </p:spPr>
        <p:txBody>
          <a:bodyPr anchor="t" rtlCol="false" tIns="0" lIns="0" bIns="0" rIns="0">
            <a:spAutoFit/>
          </a:bodyPr>
          <a:lstStyle/>
          <a:p>
            <a:pPr algn="l">
              <a:lnSpc>
                <a:spcPts val="3038"/>
              </a:lnSpc>
            </a:pPr>
            <a:r>
              <a:rPr lang="en-US" sz="2170">
                <a:solidFill>
                  <a:srgbClr val="03216A"/>
                </a:solidFill>
                <a:latin typeface="ABeeZee"/>
                <a:ea typeface="ABeeZee"/>
                <a:cs typeface="ABeeZee"/>
                <a:sym typeface="ABeeZee"/>
              </a:rPr>
              <a:t>           </a:t>
            </a:r>
            <a:r>
              <a:rPr lang="en-US" sz="2170">
                <a:solidFill>
                  <a:srgbClr val="03216A"/>
                </a:solidFill>
                <a:latin typeface="ABeeZee Bold"/>
                <a:ea typeface="ABeeZee Bold"/>
                <a:cs typeface="ABeeZee Bold"/>
                <a:sym typeface="ABeeZee Bold"/>
              </a:rPr>
              <a:t>Stationary bikes; treadmills; ellipticals; stair climbers; strength machines; guided strength equipment, etc.</a:t>
            </a:r>
          </a:p>
          <a:p>
            <a:pPr algn="l">
              <a:lnSpc>
                <a:spcPts val="3038"/>
              </a:lnSpc>
            </a:pPr>
          </a:p>
          <a:p>
            <a:pPr algn="l" marL="468517" indent="-234259" lvl="1">
              <a:lnSpc>
                <a:spcPts val="3038"/>
              </a:lnSpc>
              <a:buFont typeface="Arial"/>
              <a:buChar char="•"/>
            </a:pPr>
            <a:r>
              <a:rPr lang="en-US" sz="2170">
                <a:solidFill>
                  <a:srgbClr val="03216A"/>
                </a:solidFill>
                <a:latin typeface="ABeeZee"/>
                <a:ea typeface="ABeeZee"/>
                <a:cs typeface="ABeeZee"/>
                <a:sym typeface="ABeeZee"/>
              </a:rPr>
              <a:t>I integrate all these tools to vary stimulation and maximize the effectiveness of metabolic effort.</a:t>
            </a:r>
          </a:p>
          <a:p>
            <a:pPr algn="just">
              <a:lnSpc>
                <a:spcPts val="4026"/>
              </a:lnSpc>
            </a:pPr>
          </a:p>
          <a:p>
            <a:pPr algn="just">
              <a:lnSpc>
                <a:spcPts val="4026"/>
              </a:lnSpc>
            </a:pPr>
            <a:r>
              <a:rPr lang="en-US" sz="2875">
                <a:solidFill>
                  <a:srgbClr val="03216A"/>
                </a:solidFill>
                <a:latin typeface="ABeeZee Bold"/>
                <a:ea typeface="ABeeZee Bold"/>
                <a:cs typeface="ABeeZee Bold"/>
                <a:sym typeface="ABeeZee Bold"/>
              </a:rPr>
              <a:t>Who Can Access and Benefit from This Method?</a:t>
            </a:r>
          </a:p>
          <a:p>
            <a:pPr algn="l">
              <a:lnSpc>
                <a:spcPts val="3032"/>
              </a:lnSpc>
            </a:pPr>
          </a:p>
          <a:p>
            <a:pPr algn="l" marL="467599" indent="-233799" lvl="1">
              <a:lnSpc>
                <a:spcPts val="3032"/>
              </a:lnSpc>
              <a:buFont typeface="Arial"/>
              <a:buChar char="•"/>
            </a:pPr>
            <a:r>
              <a:rPr lang="en-US" sz="2165">
                <a:solidFill>
                  <a:srgbClr val="03216A"/>
                </a:solidFill>
                <a:latin typeface="ABeeZee"/>
                <a:ea typeface="ABeeZee"/>
                <a:cs typeface="ABeeZee"/>
                <a:sym typeface="ABeeZee"/>
              </a:rPr>
              <a:t>All profiles from 14 to 99 years old, with or without disabilities.</a:t>
            </a:r>
          </a:p>
          <a:p>
            <a:pPr algn="just">
              <a:lnSpc>
                <a:spcPts val="3032"/>
              </a:lnSpc>
            </a:pPr>
          </a:p>
          <a:p>
            <a:pPr algn="just">
              <a:lnSpc>
                <a:spcPts val="3032"/>
              </a:lnSpc>
            </a:pPr>
            <a:r>
              <a:rPr lang="en-US" sz="2165">
                <a:solidFill>
                  <a:srgbClr val="03216A"/>
                </a:solidFill>
                <a:latin typeface="ABeeZee Bold"/>
                <a:ea typeface="ABeeZee Bold"/>
                <a:cs typeface="ABeeZee Bold"/>
                <a:sym typeface="ABeeZee Bold"/>
              </a:rPr>
              <a:t>Note</a:t>
            </a:r>
            <a:r>
              <a:rPr lang="en-US" sz="2165">
                <a:solidFill>
                  <a:srgbClr val="03216A"/>
                </a:solidFill>
                <a:latin typeface="ABeeZee"/>
                <a:ea typeface="ABeeZee"/>
                <a:cs typeface="ABeeZee"/>
                <a:sym typeface="ABeeZee"/>
              </a:rPr>
              <a:t>: For confidentiality reasons, the protocols remain within the domain of intellectual property.</a:t>
            </a:r>
          </a:p>
          <a:p>
            <a:pPr algn="just">
              <a:lnSpc>
                <a:spcPts val="4166"/>
              </a:lnSpc>
            </a:pPr>
          </a:p>
          <a:p>
            <a:pPr algn="just">
              <a:lnSpc>
                <a:spcPts val="4166"/>
              </a:lnSpc>
            </a:pPr>
          </a:p>
        </p:txBody>
      </p:sp>
      <p:sp>
        <p:nvSpPr>
          <p:cNvPr name="TextBox 11" id="11"/>
          <p:cNvSpPr txBox="true"/>
          <p:nvPr/>
        </p:nvSpPr>
        <p:spPr>
          <a:xfrm rot="0">
            <a:off x="12427898" y="5402342"/>
            <a:ext cx="5253335" cy="2590800"/>
          </a:xfrm>
          <a:prstGeom prst="rect">
            <a:avLst/>
          </a:prstGeom>
        </p:spPr>
        <p:txBody>
          <a:bodyPr anchor="t" rtlCol="false" tIns="0" lIns="0" bIns="0" rIns="0">
            <a:spAutoFit/>
          </a:bodyPr>
          <a:lstStyle/>
          <a:p>
            <a:pPr algn="ctr">
              <a:lnSpc>
                <a:spcPts val="10213"/>
              </a:lnSpc>
            </a:pPr>
            <a:r>
              <a:rPr lang="en-US" sz="8511">
                <a:solidFill>
                  <a:srgbClr val="03216A"/>
                </a:solidFill>
                <a:latin typeface="Rosario"/>
                <a:ea typeface="Rosario"/>
                <a:cs typeface="Rosario"/>
                <a:sym typeface="Rosario"/>
              </a:rPr>
              <a:t>Equipment </a:t>
            </a:r>
          </a:p>
          <a:p>
            <a:pPr algn="ctr">
              <a:lnSpc>
                <a:spcPts val="10213"/>
              </a:lnSpc>
              <a:spcBef>
                <a:spcPct val="0"/>
              </a:spcBef>
            </a:pPr>
            <a:r>
              <a:rPr lang="en-US" sz="8511">
                <a:solidFill>
                  <a:srgbClr val="03216A"/>
                </a:solidFill>
                <a:latin typeface="Rosario"/>
                <a:ea typeface="Rosario"/>
                <a:cs typeface="Rosario"/>
                <a:sym typeface="Rosario"/>
              </a:rPr>
              <a:t>used</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313" r="0" b="-9313"/>
            </a:stretch>
          </a:blipFill>
        </p:spPr>
      </p:sp>
      <p:sp>
        <p:nvSpPr>
          <p:cNvPr name="Freeform 3" id="3"/>
          <p:cNvSpPr/>
          <p:nvPr/>
        </p:nvSpPr>
        <p:spPr>
          <a:xfrm flipH="true" flipV="true" rot="-10800000">
            <a:off x="276454" y="7111639"/>
            <a:ext cx="3387081" cy="3066848"/>
          </a:xfrm>
          <a:custGeom>
            <a:avLst/>
            <a:gdLst/>
            <a:ahLst/>
            <a:cxnLst/>
            <a:rect r="r" b="b" t="t" l="l"/>
            <a:pathLst>
              <a:path h="3066848" w="3387081">
                <a:moveTo>
                  <a:pt x="3387081" y="3066848"/>
                </a:moveTo>
                <a:lnTo>
                  <a:pt x="0" y="3066848"/>
                </a:lnTo>
                <a:lnTo>
                  <a:pt x="0" y="0"/>
                </a:lnTo>
                <a:lnTo>
                  <a:pt x="3387081" y="0"/>
                </a:lnTo>
                <a:lnTo>
                  <a:pt x="3387081" y="3066848"/>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5779525" y="9441589"/>
            <a:ext cx="2384082" cy="736898"/>
          </a:xfrm>
          <a:custGeom>
            <a:avLst/>
            <a:gdLst/>
            <a:ahLst/>
            <a:cxnLst/>
            <a:rect r="r" b="b" t="t" l="l"/>
            <a:pathLst>
              <a:path h="736898" w="2384082">
                <a:moveTo>
                  <a:pt x="0" y="0"/>
                </a:moveTo>
                <a:lnTo>
                  <a:pt x="2384081" y="0"/>
                </a:lnTo>
                <a:lnTo>
                  <a:pt x="2384081" y="736898"/>
                </a:lnTo>
                <a:lnTo>
                  <a:pt x="0" y="73689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0">
            <a:off x="276454" y="1902203"/>
            <a:ext cx="4112630" cy="4155921"/>
          </a:xfrm>
          <a:custGeom>
            <a:avLst/>
            <a:gdLst/>
            <a:ahLst/>
            <a:cxnLst/>
            <a:rect r="r" b="b" t="t" l="l"/>
            <a:pathLst>
              <a:path h="4155921" w="4112630">
                <a:moveTo>
                  <a:pt x="0" y="0"/>
                </a:moveTo>
                <a:lnTo>
                  <a:pt x="4112631" y="0"/>
                </a:lnTo>
                <a:lnTo>
                  <a:pt x="4112631" y="4155921"/>
                </a:lnTo>
                <a:lnTo>
                  <a:pt x="0" y="4155921"/>
                </a:lnTo>
                <a:lnTo>
                  <a:pt x="0" y="0"/>
                </a:lnTo>
                <a:close/>
              </a:path>
            </a:pathLst>
          </a:custGeom>
          <a:blipFill>
            <a:blip r:embed="rId7"/>
            <a:stretch>
              <a:fillRect l="0" t="0" r="0" b="0"/>
            </a:stretch>
          </a:blipFill>
        </p:spPr>
      </p:sp>
      <p:sp>
        <p:nvSpPr>
          <p:cNvPr name="TextBox 6" id="6"/>
          <p:cNvSpPr txBox="true"/>
          <p:nvPr/>
        </p:nvSpPr>
        <p:spPr>
          <a:xfrm rot="0">
            <a:off x="477977" y="382831"/>
            <a:ext cx="5970040" cy="1291737"/>
          </a:xfrm>
          <a:prstGeom prst="rect">
            <a:avLst/>
          </a:prstGeom>
        </p:spPr>
        <p:txBody>
          <a:bodyPr anchor="t" rtlCol="false" tIns="0" lIns="0" bIns="0" rIns="0">
            <a:spAutoFit/>
          </a:bodyPr>
          <a:lstStyle/>
          <a:p>
            <a:pPr algn="l">
              <a:lnSpc>
                <a:spcPts val="10213"/>
              </a:lnSpc>
            </a:pPr>
            <a:r>
              <a:rPr lang="en-US" sz="8511" b="true">
                <a:solidFill>
                  <a:srgbClr val="03216A"/>
                </a:solidFill>
                <a:latin typeface="Rosario Bold"/>
                <a:ea typeface="Rosario Bold"/>
                <a:cs typeface="Rosario Bold"/>
                <a:sym typeface="Rosario Bold"/>
              </a:rPr>
              <a:t>Testimonials</a:t>
            </a:r>
          </a:p>
        </p:txBody>
      </p:sp>
      <p:sp>
        <p:nvSpPr>
          <p:cNvPr name="TextBox 7" id="7"/>
          <p:cNvSpPr txBox="true"/>
          <p:nvPr/>
        </p:nvSpPr>
        <p:spPr>
          <a:xfrm rot="0">
            <a:off x="6668230" y="301100"/>
            <a:ext cx="11043874" cy="11096625"/>
          </a:xfrm>
          <a:prstGeom prst="rect">
            <a:avLst/>
          </a:prstGeom>
        </p:spPr>
        <p:txBody>
          <a:bodyPr anchor="t" rtlCol="false" tIns="0" lIns="0" bIns="0" rIns="0">
            <a:spAutoFit/>
          </a:bodyPr>
          <a:lstStyle/>
          <a:p>
            <a:pPr algn="just">
              <a:lnSpc>
                <a:spcPts val="1965"/>
              </a:lnSpc>
              <a:spcBef>
                <a:spcPct val="0"/>
              </a:spcBef>
            </a:pPr>
            <a:r>
              <a:rPr lang="en-US" sz="1637">
                <a:solidFill>
                  <a:srgbClr val="03216A"/>
                </a:solidFill>
                <a:latin typeface="ABeeZee"/>
                <a:ea typeface="ABeeZee"/>
                <a:cs typeface="ABeeZee"/>
                <a:sym typeface="ABeeZee"/>
              </a:rPr>
              <a:t>“</a:t>
            </a:r>
            <a:r>
              <a:rPr lang="en-US" sz="1637">
                <a:solidFill>
                  <a:srgbClr val="03216A"/>
                </a:solidFill>
                <a:latin typeface="ABeeZee"/>
                <a:ea typeface="ABeeZee"/>
                <a:cs typeface="ABeeZee"/>
                <a:sym typeface="ABeeZee"/>
              </a:rPr>
              <a:t>My name is Christopher Kirschgens. I am 35 years old and an avid athlete. In my youth I played a lot of handball and football. Including in handball in a team of the Rhineland. Professionally, I had to give up the two team sports and look for another hobby. I started running, swimming and cycling and added weight training. Among other things in the following years, I took part in several obstacle courses (Tough Mudder or Strongman Run). For me, my first marathon in Zurich with my wife Alexandra was probably the most beautiful sporty success of my athlete's existence. I then ran two more marathons, Berlin 2017 and Freiburg i. B. 2018. Currently, my sport is limited to fitness training.</a:t>
            </a:r>
          </a:p>
          <a:p>
            <a:pPr algn="just">
              <a:lnSpc>
                <a:spcPts val="1919"/>
              </a:lnSpc>
              <a:spcBef>
                <a:spcPct val="0"/>
              </a:spcBef>
            </a:pPr>
          </a:p>
          <a:p>
            <a:pPr algn="just">
              <a:lnSpc>
                <a:spcPts val="1919"/>
              </a:lnSpc>
              <a:spcBef>
                <a:spcPct val="0"/>
              </a:spcBef>
            </a:pPr>
            <a:r>
              <a:rPr lang="en-US" sz="1599">
                <a:solidFill>
                  <a:srgbClr val="03216A"/>
                </a:solidFill>
                <a:latin typeface="ABeeZee"/>
                <a:ea typeface="ABeeZee"/>
                <a:cs typeface="ABeeZee"/>
                <a:sym typeface="ABeeZee"/>
              </a:rPr>
              <a:t>At the end of 2018 Flédéric spoke to me in the gym, he suggested to train me physically and physically healthier and to provide me with his training and his concept. “Christopher”, he said, “if you work out with me, I'll take you up to the top.” Flédéric talked to me about weight training and health and told me that he had seen me in the gym for a long time and followed my training. He gave me a detailed idea of ​​his concept and made me understand why it is so important to train so that I still have profit of it in old age. It is not important that you put a lot of weight on the equipment and train, it is more important that you perform exercises for everyday life which help to prevent injuries or senile deficiency. Flédéric also gave me a nutrition plan for the upcoming weeks. Important in his concept is that you should separate from the bad energy the bad feeling in your body. It should be transported away from the inside of the body to the outside away from yourself. The training should also prevent illness or, after a serious illness, lead back to positive energy and health.</a:t>
            </a:r>
          </a:p>
          <a:p>
            <a:pPr algn="just">
              <a:lnSpc>
                <a:spcPts val="1919"/>
              </a:lnSpc>
              <a:spcBef>
                <a:spcPct val="0"/>
              </a:spcBef>
            </a:pPr>
          </a:p>
          <a:p>
            <a:pPr algn="just">
              <a:lnSpc>
                <a:spcPts val="1919"/>
              </a:lnSpc>
              <a:spcBef>
                <a:spcPct val="0"/>
              </a:spcBef>
            </a:pPr>
            <a:r>
              <a:rPr lang="en-US" sz="1599">
                <a:solidFill>
                  <a:srgbClr val="03216A"/>
                </a:solidFill>
                <a:latin typeface="ABeeZee"/>
                <a:ea typeface="ABeeZee"/>
                <a:cs typeface="ABeeZee"/>
                <a:sym typeface="ABeeZee"/>
              </a:rPr>
              <a:t>In the upcoming days Flédéric developed a training concept especially for me and my needs. It should be noted that I work professionally at the German Customs and carry about 8 kg of personal equipment with me on the body (personal balistic vest, firearm and use various operating resources). Of course, this weight has a negative effect on my bones and joints; e.g. the knee joint, spine, hip bone joints, intervertebral discs.</a:t>
            </a:r>
          </a:p>
          <a:p>
            <a:pPr algn="just">
              <a:lnSpc>
                <a:spcPts val="1919"/>
              </a:lnSpc>
              <a:spcBef>
                <a:spcPct val="0"/>
              </a:spcBef>
            </a:pPr>
          </a:p>
          <a:p>
            <a:pPr algn="just">
              <a:lnSpc>
                <a:spcPts val="1919"/>
              </a:lnSpc>
              <a:spcBef>
                <a:spcPct val="0"/>
              </a:spcBef>
            </a:pPr>
            <a:r>
              <a:rPr lang="en-US" sz="1599">
                <a:solidFill>
                  <a:srgbClr val="03216A"/>
                </a:solidFill>
                <a:latin typeface="ABeeZee"/>
                <a:ea typeface="ABeeZee"/>
                <a:cs typeface="ABeeZee"/>
                <a:sym typeface="ABeeZee"/>
              </a:rPr>
              <a:t>Flédéric started the warm-up program with me and explained to me exactly why we warm up just like that. The warm-up program lasts approx. 20 up to max. 30min. Then it was time for different exercises ...</a:t>
            </a:r>
          </a:p>
          <a:p>
            <a:pPr algn="just">
              <a:lnSpc>
                <a:spcPts val="1919"/>
              </a:lnSpc>
              <a:spcBef>
                <a:spcPct val="0"/>
              </a:spcBef>
            </a:pPr>
            <a:r>
              <a:rPr lang="en-US" sz="1599">
                <a:solidFill>
                  <a:srgbClr val="03216A"/>
                </a:solidFill>
                <a:latin typeface="ABeeZee"/>
                <a:ea typeface="ABeeZee"/>
                <a:cs typeface="ABeeZee"/>
                <a:sym typeface="ABeeZee"/>
              </a:rPr>
              <a:t>We did this four times a week; once a week he did a very special training with me where I had to give full throttle. Each workout, however, was max 1 hour. Then he sent me to take a shower and I felt really fresh and powerful. I never felt bad and leached out neither had pain or tension. I was really curious about what he was teaching me in the next training session. </a:t>
            </a:r>
          </a:p>
          <a:p>
            <a:pPr algn="just">
              <a:lnSpc>
                <a:spcPts val="1919"/>
              </a:lnSpc>
              <a:spcBef>
                <a:spcPct val="0"/>
              </a:spcBef>
            </a:pPr>
          </a:p>
          <a:p>
            <a:pPr algn="just">
              <a:lnSpc>
                <a:spcPts val="1919"/>
              </a:lnSpc>
              <a:spcBef>
                <a:spcPct val="0"/>
              </a:spcBef>
            </a:pPr>
            <a:r>
              <a:rPr lang="en-US" sz="1599">
                <a:solidFill>
                  <a:srgbClr val="03216A"/>
                </a:solidFill>
                <a:latin typeface="ABeeZee"/>
                <a:ea typeface="ABeeZee"/>
                <a:cs typeface="ABeeZee"/>
                <a:sym typeface="ABeeZee"/>
              </a:rPr>
              <a:t>Flédéric tunes the training specifically for its participants. It brings you very fast forward and you notice the muscle growth. I did exercises that I haven’t known before. Besides that, new exercises were added over and over again. Flédéric is right there for you and motivates you during the training. It was really great fun which is very important as well. On the one hand the training pushed you out of the comfort zone to bring you further. On the other hand the training with Flédéric made you feel being in good hands. I was surprised how well I felt after each workout - exhausted, but happy and full of power; I’ve never had any pain. Since the workouts with Flédéric I’ve never had problems with the intervertebral discs and joints as described above any longer.</a:t>
            </a:r>
          </a:p>
          <a:p>
            <a:pPr algn="just">
              <a:lnSpc>
                <a:spcPts val="1919"/>
              </a:lnSpc>
              <a:spcBef>
                <a:spcPct val="0"/>
              </a:spcBef>
            </a:pPr>
          </a:p>
          <a:p>
            <a:pPr algn="just">
              <a:lnSpc>
                <a:spcPts val="1919"/>
              </a:lnSpc>
              <a:spcBef>
                <a:spcPct val="0"/>
              </a:spcBef>
            </a:pPr>
            <a:r>
              <a:rPr lang="en-US" sz="1599">
                <a:solidFill>
                  <a:srgbClr val="03216A"/>
                </a:solidFill>
                <a:latin typeface="ABeeZee"/>
                <a:ea typeface="ABeeZee"/>
                <a:cs typeface="ABeeZee"/>
                <a:sym typeface="ABeeZee"/>
              </a:rPr>
              <a:t>To sum it up: I can 100% recommend Flédéric’s concept and training</a:t>
            </a:r>
            <a:r>
              <a:rPr lang="en-US" sz="1599">
                <a:solidFill>
                  <a:srgbClr val="03216A"/>
                </a:solidFill>
                <a:latin typeface="ABeeZee Bold"/>
                <a:ea typeface="ABeeZee Bold"/>
                <a:cs typeface="ABeeZee Bold"/>
                <a:sym typeface="ABeeZee Bold"/>
              </a:rPr>
              <a:t>.”</a:t>
            </a:r>
          </a:p>
          <a:p>
            <a:pPr algn="just">
              <a:lnSpc>
                <a:spcPts val="5943"/>
              </a:lnSpc>
              <a:spcBef>
                <a:spcPct val="0"/>
              </a:spcBef>
            </a:pPr>
          </a:p>
          <a:p>
            <a:pPr algn="just">
              <a:lnSpc>
                <a:spcPts val="5943"/>
              </a:lnSpc>
              <a:spcBef>
                <a:spcPct val="0"/>
              </a:spcBef>
            </a:pPr>
          </a:p>
        </p:txBody>
      </p:sp>
      <p:sp>
        <p:nvSpPr>
          <p:cNvPr name="TextBox 8" id="8"/>
          <p:cNvSpPr txBox="true"/>
          <p:nvPr/>
        </p:nvSpPr>
        <p:spPr>
          <a:xfrm rot="0">
            <a:off x="276454" y="6218877"/>
            <a:ext cx="3939387" cy="741534"/>
          </a:xfrm>
          <a:prstGeom prst="rect">
            <a:avLst/>
          </a:prstGeom>
        </p:spPr>
        <p:txBody>
          <a:bodyPr anchor="t" rtlCol="false" tIns="0" lIns="0" bIns="0" rIns="0">
            <a:spAutoFit/>
          </a:bodyPr>
          <a:lstStyle/>
          <a:p>
            <a:pPr algn="ctr">
              <a:lnSpc>
                <a:spcPts val="3080"/>
              </a:lnSpc>
            </a:pPr>
            <a:r>
              <a:rPr lang="en-US" sz="2567" b="true">
                <a:solidFill>
                  <a:srgbClr val="03216A"/>
                </a:solidFill>
                <a:latin typeface="Rosario Bold"/>
                <a:ea typeface="Rosario Bold"/>
                <a:cs typeface="Rosario Bold"/>
                <a:sym typeface="Rosario Bold"/>
              </a:rPr>
              <a:t>Christopher Kirschgens</a:t>
            </a:r>
          </a:p>
          <a:p>
            <a:pPr algn="l">
              <a:lnSpc>
                <a:spcPts val="2876"/>
              </a:lnSpc>
            </a:pPr>
            <a:r>
              <a:rPr lang="en-US" b="true" sz="2396">
                <a:solidFill>
                  <a:srgbClr val="03216A"/>
                </a:solidFill>
                <a:latin typeface="Rosario Bold"/>
                <a:ea typeface="Rosario Bold"/>
                <a:cs typeface="Rosario Bold"/>
                <a:sym typeface="Rosario Bold"/>
              </a:rPr>
              <a:t>               - </a:t>
            </a:r>
            <a:r>
              <a:rPr lang="en-US" b="true" sz="2396">
                <a:solidFill>
                  <a:srgbClr val="03216A"/>
                </a:solidFill>
                <a:latin typeface="Rosario Bold"/>
                <a:ea typeface="Rosario Bold"/>
                <a:cs typeface="Rosario Bold"/>
                <a:sym typeface="Rosario Bold"/>
              </a:rPr>
              <a:t>Athlete -</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313" r="0" b="-9313"/>
            </a:stretch>
          </a:blipFill>
        </p:spPr>
      </p:sp>
      <p:grpSp>
        <p:nvGrpSpPr>
          <p:cNvPr name="Group 3" id="3"/>
          <p:cNvGrpSpPr/>
          <p:nvPr/>
        </p:nvGrpSpPr>
        <p:grpSpPr>
          <a:xfrm rot="0">
            <a:off x="484911" y="240268"/>
            <a:ext cx="4367148" cy="3335656"/>
            <a:chOff x="0" y="0"/>
            <a:chExt cx="618669" cy="472543"/>
          </a:xfrm>
        </p:grpSpPr>
        <p:sp>
          <p:nvSpPr>
            <p:cNvPr name="Freeform 4" id="4"/>
            <p:cNvSpPr/>
            <p:nvPr/>
          </p:nvSpPr>
          <p:spPr>
            <a:xfrm flipH="false" flipV="false" rot="0">
              <a:off x="0" y="0"/>
              <a:ext cx="618669" cy="472543"/>
            </a:xfrm>
            <a:custGeom>
              <a:avLst/>
              <a:gdLst/>
              <a:ahLst/>
              <a:cxnLst/>
              <a:rect r="r" b="b" t="t" l="l"/>
              <a:pathLst>
                <a:path h="472543" w="618669">
                  <a:moveTo>
                    <a:pt x="60274" y="0"/>
                  </a:moveTo>
                  <a:lnTo>
                    <a:pt x="558395" y="0"/>
                  </a:lnTo>
                  <a:cubicBezTo>
                    <a:pt x="574381" y="0"/>
                    <a:pt x="589711" y="6350"/>
                    <a:pt x="601015" y="17654"/>
                  </a:cubicBezTo>
                  <a:cubicBezTo>
                    <a:pt x="612319" y="28957"/>
                    <a:pt x="618669" y="44288"/>
                    <a:pt x="618669" y="60274"/>
                  </a:cubicBezTo>
                  <a:lnTo>
                    <a:pt x="618669" y="412269"/>
                  </a:lnTo>
                  <a:cubicBezTo>
                    <a:pt x="618669" y="428255"/>
                    <a:pt x="612319" y="443586"/>
                    <a:pt x="601015" y="454889"/>
                  </a:cubicBezTo>
                  <a:cubicBezTo>
                    <a:pt x="589711" y="466193"/>
                    <a:pt x="574381" y="472543"/>
                    <a:pt x="558395" y="472543"/>
                  </a:cubicBezTo>
                  <a:lnTo>
                    <a:pt x="60274" y="472543"/>
                  </a:lnTo>
                  <a:cubicBezTo>
                    <a:pt x="44288" y="472543"/>
                    <a:pt x="28957" y="466193"/>
                    <a:pt x="17654" y="454889"/>
                  </a:cubicBezTo>
                  <a:cubicBezTo>
                    <a:pt x="6350" y="443586"/>
                    <a:pt x="0" y="428255"/>
                    <a:pt x="0" y="412269"/>
                  </a:cubicBezTo>
                  <a:lnTo>
                    <a:pt x="0" y="60274"/>
                  </a:lnTo>
                  <a:cubicBezTo>
                    <a:pt x="0" y="44288"/>
                    <a:pt x="6350" y="28957"/>
                    <a:pt x="17654" y="17654"/>
                  </a:cubicBezTo>
                  <a:cubicBezTo>
                    <a:pt x="28957" y="6350"/>
                    <a:pt x="44288" y="0"/>
                    <a:pt x="60274" y="0"/>
                  </a:cubicBezTo>
                  <a:close/>
                </a:path>
              </a:pathLst>
            </a:custGeom>
            <a:blipFill>
              <a:blip r:embed="rId3"/>
              <a:stretch>
                <a:fillRect l="0" t="-37282" r="0" b="-37282"/>
              </a:stretch>
            </a:blipFill>
            <a:ln w="104775" cap="rnd">
              <a:solidFill>
                <a:srgbClr val="61739D"/>
              </a:solidFill>
              <a:prstDash val="solid"/>
              <a:round/>
            </a:ln>
          </p:spPr>
        </p:sp>
      </p:grpSp>
      <p:sp>
        <p:nvSpPr>
          <p:cNvPr name="Freeform 5" id="5"/>
          <p:cNvSpPr/>
          <p:nvPr/>
        </p:nvSpPr>
        <p:spPr>
          <a:xfrm flipH="false" flipV="false" rot="0">
            <a:off x="12994633" y="8572128"/>
            <a:ext cx="3945807" cy="3945807"/>
          </a:xfrm>
          <a:custGeom>
            <a:avLst/>
            <a:gdLst/>
            <a:ahLst/>
            <a:cxnLst/>
            <a:rect r="r" b="b" t="t" l="l"/>
            <a:pathLst>
              <a:path h="3945807" w="3945807">
                <a:moveTo>
                  <a:pt x="0" y="0"/>
                </a:moveTo>
                <a:lnTo>
                  <a:pt x="3945807" y="0"/>
                </a:lnTo>
                <a:lnTo>
                  <a:pt x="3945807" y="3945806"/>
                </a:lnTo>
                <a:lnTo>
                  <a:pt x="0" y="394580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1182929" y="5432753"/>
            <a:ext cx="2878164" cy="4370545"/>
          </a:xfrm>
          <a:custGeom>
            <a:avLst/>
            <a:gdLst/>
            <a:ahLst/>
            <a:cxnLst/>
            <a:rect r="r" b="b" t="t" l="l"/>
            <a:pathLst>
              <a:path h="4370545" w="2878164">
                <a:moveTo>
                  <a:pt x="0" y="0"/>
                </a:moveTo>
                <a:lnTo>
                  <a:pt x="2878163" y="0"/>
                </a:lnTo>
                <a:lnTo>
                  <a:pt x="2878163" y="4370545"/>
                </a:lnTo>
                <a:lnTo>
                  <a:pt x="0" y="4370545"/>
                </a:lnTo>
                <a:lnTo>
                  <a:pt x="0" y="0"/>
                </a:lnTo>
                <a:close/>
              </a:path>
            </a:pathLst>
          </a:custGeom>
          <a:blipFill>
            <a:blip r:embed="rId6"/>
            <a:stretch>
              <a:fillRect l="0" t="0" r="0" b="0"/>
            </a:stretch>
          </a:blipFill>
        </p:spPr>
      </p:sp>
      <p:sp>
        <p:nvSpPr>
          <p:cNvPr name="TextBox 7" id="7"/>
          <p:cNvSpPr txBox="true"/>
          <p:nvPr/>
        </p:nvSpPr>
        <p:spPr>
          <a:xfrm rot="0">
            <a:off x="5274050" y="328154"/>
            <a:ext cx="12321852" cy="8243973"/>
          </a:xfrm>
          <a:prstGeom prst="rect">
            <a:avLst/>
          </a:prstGeom>
        </p:spPr>
        <p:txBody>
          <a:bodyPr anchor="t" rtlCol="false" tIns="0" lIns="0" bIns="0" rIns="0">
            <a:spAutoFit/>
          </a:bodyPr>
          <a:lstStyle/>
          <a:p>
            <a:pPr algn="just">
              <a:lnSpc>
                <a:spcPts val="4107"/>
              </a:lnSpc>
            </a:pPr>
            <a:r>
              <a:rPr lang="en-US" sz="2934">
                <a:solidFill>
                  <a:srgbClr val="03216A"/>
                </a:solidFill>
                <a:latin typeface="ABeeZee Bold"/>
                <a:ea typeface="ABeeZee Bold"/>
                <a:cs typeface="ABeeZee Bold"/>
                <a:sym typeface="ABeeZee Bold"/>
              </a:rPr>
              <a:t>Geneviève Jelsch, 57, breast cancer, fibromyalgia and Lyme disease</a:t>
            </a:r>
          </a:p>
          <a:p>
            <a:pPr algn="just">
              <a:lnSpc>
                <a:spcPts val="4107"/>
              </a:lnSpc>
            </a:pPr>
          </a:p>
          <a:p>
            <a:pPr algn="just">
              <a:lnSpc>
                <a:spcPts val="2707"/>
              </a:lnSpc>
            </a:pPr>
            <a:r>
              <a:rPr lang="en-US" sz="1934">
                <a:solidFill>
                  <a:srgbClr val="03216A"/>
                </a:solidFill>
                <a:latin typeface="ABeeZee"/>
                <a:ea typeface="ABeeZee"/>
                <a:cs typeface="ABeeZee"/>
                <a:sym typeface="ABeeZee"/>
              </a:rPr>
              <a:t>“Let me introduce myself. I am Geneviève. I was bo</a:t>
            </a:r>
            <a:r>
              <a:rPr lang="en-US" sz="1934">
                <a:solidFill>
                  <a:srgbClr val="03216A"/>
                </a:solidFill>
                <a:latin typeface="ABeeZee"/>
                <a:ea typeface="ABeeZee"/>
                <a:cs typeface="ABeeZee"/>
                <a:sym typeface="ABeeZee"/>
              </a:rPr>
              <a:t>rn in Alsace, in France, in 1962. In 2009, I started feeling pain in my joints and as the years went by, the pain became unbearable. I would scream at night because of severe pain occurring for no reason and I would scare my husband in the meantime. It was extremely violent. Words can’t express the pain I underwent. I didn’t understand what was happening. The doctors had no concrete answer either. All they said was it was probably a result of my former breast cancer. I had to decrease my working hours and eventually stopped working as I could hardly walk. </a:t>
            </a:r>
          </a:p>
          <a:p>
            <a:pPr algn="just">
              <a:lnSpc>
                <a:spcPts val="2707"/>
              </a:lnSpc>
            </a:pPr>
          </a:p>
          <a:p>
            <a:pPr algn="just">
              <a:lnSpc>
                <a:spcPts val="2707"/>
              </a:lnSpc>
            </a:pPr>
            <a:r>
              <a:rPr lang="en-US" sz="1934">
                <a:solidFill>
                  <a:srgbClr val="03216A"/>
                </a:solidFill>
                <a:latin typeface="ABeeZee"/>
                <a:ea typeface="ABeeZee"/>
                <a:cs typeface="ABeeZee"/>
                <a:sym typeface="ABeeZee"/>
              </a:rPr>
              <a:t>A few years later, my GP finally diagnosed a fibromyalgia and on top of that, the Lyme disease! I was then hospitalized because of a facial palsy which caused me to stutter for more than a year. </a:t>
            </a:r>
          </a:p>
          <a:p>
            <a:pPr algn="just">
              <a:lnSpc>
                <a:spcPts val="2707"/>
              </a:lnSpc>
            </a:pPr>
          </a:p>
          <a:p>
            <a:pPr algn="just">
              <a:lnSpc>
                <a:spcPts val="2707"/>
              </a:lnSpc>
            </a:pPr>
            <a:r>
              <a:rPr lang="en-US" sz="1934">
                <a:solidFill>
                  <a:srgbClr val="03216A"/>
                </a:solidFill>
                <a:latin typeface="ABeeZee"/>
                <a:ea typeface="ABeeZee"/>
                <a:cs typeface="ABeeZee"/>
                <a:sym typeface="ABeeZee"/>
              </a:rPr>
              <a:t>At that moment, I met Flédéric Payet through a friend of mine who was already part of his program. I started training with him and changing my diet. I rapidly started feeling better and feeling myself coming back to life. I was full of energy again and I felt like I could climb mountains. My husband couldn’t believe his eyes!! He was very surprised to witness the significant positive changes after many years of agony. None of my siblings and friends recognized me either. I was not the same person anymore. It changed my life. I even started working again!! </a:t>
            </a:r>
          </a:p>
          <a:p>
            <a:pPr algn="just">
              <a:lnSpc>
                <a:spcPts val="2707"/>
              </a:lnSpc>
            </a:pPr>
          </a:p>
          <a:p>
            <a:pPr algn="just">
              <a:lnSpc>
                <a:spcPts val="2707"/>
              </a:lnSpc>
            </a:pPr>
            <a:r>
              <a:rPr lang="en-US" sz="1934">
                <a:solidFill>
                  <a:srgbClr val="03216A"/>
                </a:solidFill>
                <a:latin typeface="ABeeZee"/>
                <a:ea typeface="ABeeZee"/>
                <a:cs typeface="ABeeZee"/>
                <a:sym typeface="ABeeZee"/>
              </a:rPr>
              <a:t>I followed Flédéric’s program for 2 years, including 5 training days a week in his care. As of today, I still exercise and I live a normal life. I cannot thank Flédéric enough for all that he has done for me, including comforting and supporting me during times of discouragement. He never hesitated to come and visit me at my place in times of need. I will be forever grateful to him.” </a:t>
            </a:r>
          </a:p>
        </p:txBody>
      </p:sp>
      <p:sp>
        <p:nvSpPr>
          <p:cNvPr name="TextBox 8" id="8"/>
          <p:cNvSpPr txBox="true"/>
          <p:nvPr/>
        </p:nvSpPr>
        <p:spPr>
          <a:xfrm rot="0">
            <a:off x="300972" y="3811966"/>
            <a:ext cx="4397618" cy="1343025"/>
          </a:xfrm>
          <a:prstGeom prst="rect">
            <a:avLst/>
          </a:prstGeom>
        </p:spPr>
        <p:txBody>
          <a:bodyPr anchor="t" rtlCol="false" tIns="0" lIns="0" bIns="0" rIns="0">
            <a:spAutoFit/>
          </a:bodyPr>
          <a:lstStyle/>
          <a:p>
            <a:pPr algn="ctr">
              <a:lnSpc>
                <a:spcPts val="5265"/>
              </a:lnSpc>
              <a:spcBef>
                <a:spcPct val="0"/>
              </a:spcBef>
            </a:pPr>
            <a:r>
              <a:rPr lang="en-US" sz="4387">
                <a:solidFill>
                  <a:srgbClr val="03216A"/>
                </a:solidFill>
                <a:latin typeface="ABeeZee Bold"/>
                <a:ea typeface="ABeeZee Bold"/>
                <a:cs typeface="ABeeZee Bold"/>
                <a:sym typeface="ABeeZee Bold"/>
              </a:rPr>
              <a:t>Before / After pictures</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313" r="0" b="-9313"/>
            </a:stretch>
          </a:blipFill>
        </p:spPr>
      </p:sp>
      <p:grpSp>
        <p:nvGrpSpPr>
          <p:cNvPr name="Group 3" id="3"/>
          <p:cNvGrpSpPr/>
          <p:nvPr/>
        </p:nvGrpSpPr>
        <p:grpSpPr>
          <a:xfrm rot="0">
            <a:off x="13929927" y="5876890"/>
            <a:ext cx="3993314" cy="4080174"/>
            <a:chOff x="0" y="0"/>
            <a:chExt cx="618669" cy="632126"/>
          </a:xfrm>
        </p:grpSpPr>
        <p:sp>
          <p:nvSpPr>
            <p:cNvPr name="Freeform 4" id="4"/>
            <p:cNvSpPr/>
            <p:nvPr/>
          </p:nvSpPr>
          <p:spPr>
            <a:xfrm flipH="false" flipV="false" rot="0">
              <a:off x="0" y="0"/>
              <a:ext cx="618669" cy="632126"/>
            </a:xfrm>
            <a:custGeom>
              <a:avLst/>
              <a:gdLst/>
              <a:ahLst/>
              <a:cxnLst/>
              <a:rect r="r" b="b" t="t" l="l"/>
              <a:pathLst>
                <a:path h="632126" w="618669">
                  <a:moveTo>
                    <a:pt x="65917" y="0"/>
                  </a:moveTo>
                  <a:lnTo>
                    <a:pt x="552752" y="0"/>
                  </a:lnTo>
                  <a:cubicBezTo>
                    <a:pt x="589157" y="0"/>
                    <a:pt x="618669" y="29512"/>
                    <a:pt x="618669" y="65917"/>
                  </a:cubicBezTo>
                  <a:lnTo>
                    <a:pt x="618669" y="566209"/>
                  </a:lnTo>
                  <a:cubicBezTo>
                    <a:pt x="618669" y="602614"/>
                    <a:pt x="589157" y="632126"/>
                    <a:pt x="552752" y="632126"/>
                  </a:cubicBezTo>
                  <a:lnTo>
                    <a:pt x="65917" y="632126"/>
                  </a:lnTo>
                  <a:cubicBezTo>
                    <a:pt x="29512" y="632126"/>
                    <a:pt x="0" y="602614"/>
                    <a:pt x="0" y="566209"/>
                  </a:cubicBezTo>
                  <a:lnTo>
                    <a:pt x="0" y="65917"/>
                  </a:lnTo>
                  <a:cubicBezTo>
                    <a:pt x="0" y="29512"/>
                    <a:pt x="29512" y="0"/>
                    <a:pt x="65917" y="0"/>
                  </a:cubicBezTo>
                  <a:close/>
                </a:path>
              </a:pathLst>
            </a:custGeom>
            <a:blipFill>
              <a:blip r:embed="rId3"/>
              <a:stretch>
                <a:fillRect l="-1087" t="0" r="-1087" b="0"/>
              </a:stretch>
            </a:blipFill>
            <a:ln w="104775" cap="rnd">
              <a:solidFill>
                <a:srgbClr val="61739D"/>
              </a:solidFill>
              <a:prstDash val="solid"/>
              <a:round/>
            </a:ln>
          </p:spPr>
        </p:sp>
      </p:grpSp>
      <p:sp>
        <p:nvSpPr>
          <p:cNvPr name="Freeform 5" id="5"/>
          <p:cNvSpPr/>
          <p:nvPr/>
        </p:nvSpPr>
        <p:spPr>
          <a:xfrm flipH="false" flipV="false" rot="0">
            <a:off x="8385831" y="8487550"/>
            <a:ext cx="2384082" cy="736898"/>
          </a:xfrm>
          <a:custGeom>
            <a:avLst/>
            <a:gdLst/>
            <a:ahLst/>
            <a:cxnLst/>
            <a:rect r="r" b="b" t="t" l="l"/>
            <a:pathLst>
              <a:path h="736898" w="2384082">
                <a:moveTo>
                  <a:pt x="0" y="0"/>
                </a:moveTo>
                <a:lnTo>
                  <a:pt x="2384082" y="0"/>
                </a:lnTo>
                <a:lnTo>
                  <a:pt x="2384082" y="736898"/>
                </a:lnTo>
                <a:lnTo>
                  <a:pt x="0" y="73689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7043050" y="-1925295"/>
            <a:ext cx="3726863" cy="3726863"/>
          </a:xfrm>
          <a:custGeom>
            <a:avLst/>
            <a:gdLst/>
            <a:ahLst/>
            <a:cxnLst/>
            <a:rect r="r" b="b" t="t" l="l"/>
            <a:pathLst>
              <a:path h="3726863" w="3726863">
                <a:moveTo>
                  <a:pt x="0" y="0"/>
                </a:moveTo>
                <a:lnTo>
                  <a:pt x="3726863" y="0"/>
                </a:lnTo>
                <a:lnTo>
                  <a:pt x="3726863" y="3726863"/>
                </a:lnTo>
                <a:lnTo>
                  <a:pt x="0" y="372686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2452046" y="3170597"/>
            <a:ext cx="3945807" cy="3945807"/>
          </a:xfrm>
          <a:custGeom>
            <a:avLst/>
            <a:gdLst/>
            <a:ahLst/>
            <a:cxnLst/>
            <a:rect r="r" b="b" t="t" l="l"/>
            <a:pathLst>
              <a:path h="3945807" w="3945807">
                <a:moveTo>
                  <a:pt x="0" y="0"/>
                </a:moveTo>
                <a:lnTo>
                  <a:pt x="3945807" y="0"/>
                </a:lnTo>
                <a:lnTo>
                  <a:pt x="3945807" y="3945806"/>
                </a:lnTo>
                <a:lnTo>
                  <a:pt x="0" y="394580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8" id="8"/>
          <p:cNvSpPr txBox="true"/>
          <p:nvPr/>
        </p:nvSpPr>
        <p:spPr>
          <a:xfrm rot="0">
            <a:off x="1667327" y="2306294"/>
            <a:ext cx="11397478" cy="5962650"/>
          </a:xfrm>
          <a:prstGeom prst="rect">
            <a:avLst/>
          </a:prstGeom>
        </p:spPr>
        <p:txBody>
          <a:bodyPr anchor="t" rtlCol="false" tIns="0" lIns="0" bIns="0" rIns="0">
            <a:spAutoFit/>
          </a:bodyPr>
          <a:lstStyle/>
          <a:p>
            <a:pPr algn="l">
              <a:lnSpc>
                <a:spcPts val="3134"/>
              </a:lnSpc>
              <a:spcBef>
                <a:spcPct val="0"/>
              </a:spcBef>
            </a:pPr>
            <a:r>
              <a:rPr lang="en-US" b="true" sz="2611">
                <a:solidFill>
                  <a:srgbClr val="03216A"/>
                </a:solidFill>
                <a:latin typeface="Rosario Bold"/>
                <a:ea typeface="Rosario Bold"/>
                <a:cs typeface="Rosario Bold"/>
                <a:sym typeface="Rosario Bold"/>
              </a:rPr>
              <a:t>Julia Eichmann, mid-thirties, depressed and aiming at physical performance</a:t>
            </a:r>
          </a:p>
          <a:p>
            <a:pPr algn="l">
              <a:lnSpc>
                <a:spcPts val="3134"/>
              </a:lnSpc>
              <a:spcBef>
                <a:spcPct val="0"/>
              </a:spcBef>
            </a:pPr>
          </a:p>
          <a:p>
            <a:pPr algn="l">
              <a:lnSpc>
                <a:spcPts val="2414"/>
              </a:lnSpc>
              <a:spcBef>
                <a:spcPct val="0"/>
              </a:spcBef>
            </a:pPr>
            <a:r>
              <a:rPr lang="en-US" sz="2011">
                <a:solidFill>
                  <a:srgbClr val="03216A"/>
                </a:solidFill>
                <a:latin typeface="ABeeZee"/>
                <a:ea typeface="ABeeZee"/>
                <a:cs typeface="ABeeZee"/>
                <a:sym typeface="ABeeZee"/>
              </a:rPr>
              <a:t> “When I met Flé for the first time, I saw a group of people running around the gym and he was yelling “allez allez” it didn’t look like your average gym session but everyone looked so happy afterwards! I decided to talk to him and will forever be grateful that I did! </a:t>
            </a:r>
          </a:p>
          <a:p>
            <a:pPr algn="l">
              <a:lnSpc>
                <a:spcPts val="2414"/>
              </a:lnSpc>
              <a:spcBef>
                <a:spcPct val="0"/>
              </a:spcBef>
            </a:pPr>
          </a:p>
          <a:p>
            <a:pPr algn="l">
              <a:lnSpc>
                <a:spcPts val="2414"/>
              </a:lnSpc>
              <a:spcBef>
                <a:spcPct val="0"/>
              </a:spcBef>
            </a:pPr>
            <a:r>
              <a:rPr lang="en-US" sz="2011">
                <a:solidFill>
                  <a:srgbClr val="03216A"/>
                </a:solidFill>
                <a:latin typeface="ABeeZee"/>
                <a:ea typeface="ABeeZee"/>
                <a:cs typeface="ABeeZee"/>
                <a:sym typeface="ABeeZee"/>
              </a:rPr>
              <a:t>With Flé I did not only learn about sport and workouts and health but also how to push my boundaries and some important lessons for life. During one of the most difficult times of my life, his training was the only thing that kept me going and made me get up in the morning. </a:t>
            </a:r>
          </a:p>
          <a:p>
            <a:pPr algn="l">
              <a:lnSpc>
                <a:spcPts val="2414"/>
              </a:lnSpc>
              <a:spcBef>
                <a:spcPct val="0"/>
              </a:spcBef>
            </a:pPr>
          </a:p>
          <a:p>
            <a:pPr algn="l">
              <a:lnSpc>
                <a:spcPts val="2414"/>
              </a:lnSpc>
              <a:spcBef>
                <a:spcPct val="0"/>
              </a:spcBef>
            </a:pPr>
            <a:r>
              <a:rPr lang="en-US" sz="2011">
                <a:solidFill>
                  <a:srgbClr val="03216A"/>
                </a:solidFill>
                <a:latin typeface="ABeeZee"/>
                <a:ea typeface="ABeeZee"/>
                <a:cs typeface="ABeeZee"/>
                <a:sym typeface="ABeeZee"/>
              </a:rPr>
              <a:t>I don’t know where I would be today, if not for him. I cannot express how grateful I am that we met. With him I achieved amazing results in short time and learned how to keep up the level by myself after I moved away and didn’t have him as a coach anymore. </a:t>
            </a:r>
          </a:p>
          <a:p>
            <a:pPr algn="l">
              <a:lnSpc>
                <a:spcPts val="2414"/>
              </a:lnSpc>
              <a:spcBef>
                <a:spcPct val="0"/>
              </a:spcBef>
            </a:pPr>
          </a:p>
          <a:p>
            <a:pPr algn="l">
              <a:lnSpc>
                <a:spcPts val="2414"/>
              </a:lnSpc>
              <a:spcBef>
                <a:spcPct val="0"/>
              </a:spcBef>
            </a:pPr>
            <a:r>
              <a:rPr lang="en-US" sz="2011">
                <a:solidFill>
                  <a:srgbClr val="03216A"/>
                </a:solidFill>
                <a:latin typeface="ABeeZee"/>
                <a:ea typeface="ABeeZee"/>
                <a:cs typeface="ABeeZee"/>
                <a:sym typeface="ABeeZee"/>
              </a:rPr>
              <a:t>It was also astonishing to watch the transformation of other people in the gym. Witnessing how people who could barely walk started to run and push weights. </a:t>
            </a:r>
          </a:p>
          <a:p>
            <a:pPr algn="l">
              <a:lnSpc>
                <a:spcPts val="2414"/>
              </a:lnSpc>
              <a:spcBef>
                <a:spcPct val="0"/>
              </a:spcBef>
            </a:pPr>
          </a:p>
          <a:p>
            <a:pPr algn="l">
              <a:lnSpc>
                <a:spcPts val="2414"/>
              </a:lnSpc>
              <a:spcBef>
                <a:spcPct val="0"/>
              </a:spcBef>
            </a:pPr>
            <a:r>
              <a:rPr lang="en-US" sz="2011">
                <a:solidFill>
                  <a:srgbClr val="03216A"/>
                </a:solidFill>
                <a:latin typeface="ABeeZee"/>
                <a:ea typeface="ABeeZee"/>
                <a:cs typeface="ABeeZee"/>
                <a:sym typeface="ABeeZee"/>
              </a:rPr>
              <a:t>I can only recommend everyone to meet Flé as a coach and as a person - it will change your life forever!” 6/6</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313" r="0" b="-9313"/>
            </a:stretch>
          </a:blipFill>
        </p:spPr>
      </p:sp>
      <p:sp>
        <p:nvSpPr>
          <p:cNvPr name="Freeform 3" id="3"/>
          <p:cNvSpPr/>
          <p:nvPr/>
        </p:nvSpPr>
        <p:spPr>
          <a:xfrm flipH="false" flipV="false" rot="0">
            <a:off x="829347" y="311793"/>
            <a:ext cx="7093908" cy="3231145"/>
          </a:xfrm>
          <a:custGeom>
            <a:avLst/>
            <a:gdLst/>
            <a:ahLst/>
            <a:cxnLst/>
            <a:rect r="r" b="b" t="t" l="l"/>
            <a:pathLst>
              <a:path h="3231145" w="7093908">
                <a:moveTo>
                  <a:pt x="0" y="0"/>
                </a:moveTo>
                <a:lnTo>
                  <a:pt x="7093908" y="0"/>
                </a:lnTo>
                <a:lnTo>
                  <a:pt x="7093908" y="3231145"/>
                </a:lnTo>
                <a:lnTo>
                  <a:pt x="0" y="3231145"/>
                </a:lnTo>
                <a:lnTo>
                  <a:pt x="0" y="0"/>
                </a:lnTo>
                <a:close/>
              </a:path>
            </a:pathLst>
          </a:custGeom>
          <a:blipFill>
            <a:blip r:embed="rId3"/>
            <a:stretch>
              <a:fillRect l="0" t="-3309" r="0" b="-3309"/>
            </a:stretch>
          </a:blipFill>
        </p:spPr>
      </p:sp>
      <p:sp>
        <p:nvSpPr>
          <p:cNvPr name="Freeform 4" id="4"/>
          <p:cNvSpPr/>
          <p:nvPr/>
        </p:nvSpPr>
        <p:spPr>
          <a:xfrm flipH="false" flipV="false" rot="0">
            <a:off x="11030544" y="4126609"/>
            <a:ext cx="6465561" cy="5513625"/>
          </a:xfrm>
          <a:custGeom>
            <a:avLst/>
            <a:gdLst/>
            <a:ahLst/>
            <a:cxnLst/>
            <a:rect r="r" b="b" t="t" l="l"/>
            <a:pathLst>
              <a:path h="5513625" w="6465561">
                <a:moveTo>
                  <a:pt x="0" y="0"/>
                </a:moveTo>
                <a:lnTo>
                  <a:pt x="6465561" y="0"/>
                </a:lnTo>
                <a:lnTo>
                  <a:pt x="6465561" y="5513626"/>
                </a:lnTo>
                <a:lnTo>
                  <a:pt x="0" y="5513626"/>
                </a:lnTo>
                <a:lnTo>
                  <a:pt x="0" y="0"/>
                </a:lnTo>
                <a:close/>
              </a:path>
            </a:pathLst>
          </a:custGeom>
          <a:blipFill>
            <a:blip r:embed="rId4"/>
            <a:stretch>
              <a:fillRect l="-41316" t="0" r="-34535" b="0"/>
            </a:stretch>
          </a:blipFill>
        </p:spPr>
      </p:sp>
      <p:sp>
        <p:nvSpPr>
          <p:cNvPr name="TextBox 5" id="5"/>
          <p:cNvSpPr txBox="true"/>
          <p:nvPr/>
        </p:nvSpPr>
        <p:spPr>
          <a:xfrm rot="0">
            <a:off x="829347" y="4117084"/>
            <a:ext cx="9769060" cy="5800725"/>
          </a:xfrm>
          <a:prstGeom prst="rect">
            <a:avLst/>
          </a:prstGeom>
        </p:spPr>
        <p:txBody>
          <a:bodyPr anchor="t" rtlCol="false" tIns="0" lIns="0" bIns="0" rIns="0">
            <a:spAutoFit/>
          </a:bodyPr>
          <a:lstStyle/>
          <a:p>
            <a:pPr algn="l">
              <a:lnSpc>
                <a:spcPts val="2421"/>
              </a:lnSpc>
              <a:spcBef>
                <a:spcPct val="0"/>
              </a:spcBef>
            </a:pPr>
            <a:r>
              <a:rPr lang="en-US" sz="2017">
                <a:solidFill>
                  <a:srgbClr val="000000"/>
                </a:solidFill>
                <a:latin typeface="ABeeZee"/>
                <a:ea typeface="ABeeZee"/>
                <a:cs typeface="ABeeZee"/>
                <a:sym typeface="ABeeZee"/>
              </a:rPr>
              <a:t>“</a:t>
            </a:r>
            <a:r>
              <a:rPr lang="en-US" sz="2017">
                <a:solidFill>
                  <a:srgbClr val="03216A"/>
                </a:solidFill>
                <a:latin typeface="ABeeZee"/>
                <a:ea typeface="ABeeZee"/>
                <a:cs typeface="ABeeZee"/>
                <a:sym typeface="ABeeZee"/>
              </a:rPr>
              <a:t>Hello, my name is Juan Carlos Carignani, I am a Rally Dakar competitor and I would like to give some feedback about the training I have been doing with Fléderic. </a:t>
            </a:r>
          </a:p>
          <a:p>
            <a:pPr algn="l">
              <a:lnSpc>
                <a:spcPts val="2421"/>
              </a:lnSpc>
              <a:spcBef>
                <a:spcPct val="0"/>
              </a:spcBef>
            </a:pPr>
          </a:p>
          <a:p>
            <a:pPr algn="l">
              <a:lnSpc>
                <a:spcPts val="2421"/>
              </a:lnSpc>
              <a:spcBef>
                <a:spcPct val="0"/>
              </a:spcBef>
            </a:pPr>
            <a:r>
              <a:rPr lang="en-US" sz="2017">
                <a:solidFill>
                  <a:srgbClr val="03216A"/>
                </a:solidFill>
                <a:latin typeface="ABeeZee"/>
                <a:ea typeface="ABeeZee"/>
                <a:cs typeface="ABeeZee"/>
                <a:sym typeface="ABeeZee"/>
              </a:rPr>
              <a:t>The Rally Dakar is the hardest, biggest and longest Rally of the world, in which the participants face many dangerous situations and are exposed to two weeks of extreme efforts requiring endurance. In addition, there are many complications which require you must be mentally and physically prepared if you want to get through the whole Rally race. </a:t>
            </a:r>
          </a:p>
          <a:p>
            <a:pPr algn="l">
              <a:lnSpc>
                <a:spcPts val="2421"/>
              </a:lnSpc>
              <a:spcBef>
                <a:spcPct val="0"/>
              </a:spcBef>
            </a:pPr>
          </a:p>
          <a:p>
            <a:pPr algn="l">
              <a:lnSpc>
                <a:spcPts val="2421"/>
              </a:lnSpc>
              <a:spcBef>
                <a:spcPct val="0"/>
              </a:spcBef>
            </a:pPr>
            <a:r>
              <a:rPr lang="en-US" sz="2017">
                <a:solidFill>
                  <a:srgbClr val="03216A"/>
                </a:solidFill>
                <a:latin typeface="ABeeZee"/>
                <a:ea typeface="ABeeZee"/>
                <a:cs typeface="ABeeZee"/>
                <a:sym typeface="ABeeZee"/>
              </a:rPr>
              <a:t>Thanks to Flédéric’s training, in which he prepared me with effective exercises, I achieved a very good overall fitness. It was a very productive training in preparation for physical strength and endurance. </a:t>
            </a:r>
          </a:p>
          <a:p>
            <a:pPr algn="l">
              <a:lnSpc>
                <a:spcPts val="2421"/>
              </a:lnSpc>
              <a:spcBef>
                <a:spcPct val="0"/>
              </a:spcBef>
            </a:pPr>
          </a:p>
          <a:p>
            <a:pPr algn="l">
              <a:lnSpc>
                <a:spcPts val="2421"/>
              </a:lnSpc>
              <a:spcBef>
                <a:spcPct val="0"/>
              </a:spcBef>
            </a:pPr>
            <a:r>
              <a:rPr lang="en-US" sz="2017">
                <a:solidFill>
                  <a:srgbClr val="03216A"/>
                </a:solidFill>
                <a:latin typeface="ABeeZee"/>
                <a:ea typeface="ABeeZee"/>
                <a:cs typeface="ABeeZee"/>
                <a:sym typeface="ABeeZee"/>
              </a:rPr>
              <a:t>The results during the race was beyond expectations in the sense that I could remain strong and capable of facing harsh conditions. </a:t>
            </a:r>
          </a:p>
          <a:p>
            <a:pPr algn="l">
              <a:lnSpc>
                <a:spcPts val="2421"/>
              </a:lnSpc>
              <a:spcBef>
                <a:spcPct val="0"/>
              </a:spcBef>
            </a:pPr>
          </a:p>
          <a:p>
            <a:pPr algn="l">
              <a:lnSpc>
                <a:spcPts val="2421"/>
              </a:lnSpc>
              <a:spcBef>
                <a:spcPct val="0"/>
              </a:spcBef>
            </a:pPr>
            <a:r>
              <a:rPr lang="en-US" sz="2017">
                <a:solidFill>
                  <a:srgbClr val="03216A"/>
                </a:solidFill>
                <a:latin typeface="ABeeZee"/>
                <a:ea typeface="ABeeZee"/>
                <a:cs typeface="ABeeZee"/>
                <a:sym typeface="ABeeZee"/>
              </a:rPr>
              <a:t>I am very satisfied with this preparation program and recommend it for any kind of sport.” </a:t>
            </a:r>
          </a:p>
        </p:txBody>
      </p:sp>
      <p:sp>
        <p:nvSpPr>
          <p:cNvPr name="TextBox 6" id="6"/>
          <p:cNvSpPr txBox="true"/>
          <p:nvPr/>
        </p:nvSpPr>
        <p:spPr>
          <a:xfrm rot="0">
            <a:off x="7923255" y="723207"/>
            <a:ext cx="7474931" cy="400050"/>
          </a:xfrm>
          <a:prstGeom prst="rect">
            <a:avLst/>
          </a:prstGeom>
        </p:spPr>
        <p:txBody>
          <a:bodyPr anchor="t" rtlCol="false" tIns="0" lIns="0" bIns="0" rIns="0">
            <a:spAutoFit/>
          </a:bodyPr>
          <a:lstStyle/>
          <a:p>
            <a:pPr algn="ctr">
              <a:lnSpc>
                <a:spcPts val="3080"/>
              </a:lnSpc>
              <a:spcBef>
                <a:spcPct val="0"/>
              </a:spcBef>
            </a:pPr>
            <a:r>
              <a:rPr lang="en-US" sz="2567">
                <a:solidFill>
                  <a:srgbClr val="03216A"/>
                </a:solidFill>
                <a:latin typeface="ABeeZee Bold"/>
                <a:ea typeface="ABeeZee Bold"/>
                <a:cs typeface="ABeeZee Bold"/>
                <a:sym typeface="ABeeZee Bold"/>
              </a:rPr>
              <a:t>Juan Carlos Carignani, Dakar Rally Competitor</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313" r="0" b="-9313"/>
            </a:stretch>
          </a:blipFill>
        </p:spPr>
      </p:sp>
      <p:sp>
        <p:nvSpPr>
          <p:cNvPr name="Freeform 3" id="3"/>
          <p:cNvSpPr/>
          <p:nvPr/>
        </p:nvSpPr>
        <p:spPr>
          <a:xfrm flipH="false" flipV="false" rot="0">
            <a:off x="1028700" y="6897733"/>
            <a:ext cx="2360567" cy="2360567"/>
          </a:xfrm>
          <a:custGeom>
            <a:avLst/>
            <a:gdLst/>
            <a:ahLst/>
            <a:cxnLst/>
            <a:rect r="r" b="b" t="t" l="l"/>
            <a:pathLst>
              <a:path h="2360567" w="2360567">
                <a:moveTo>
                  <a:pt x="0" y="0"/>
                </a:moveTo>
                <a:lnTo>
                  <a:pt x="2360567" y="0"/>
                </a:lnTo>
                <a:lnTo>
                  <a:pt x="2360567" y="2360567"/>
                </a:lnTo>
                <a:lnTo>
                  <a:pt x="0" y="236056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028700" y="1028700"/>
            <a:ext cx="2103011" cy="1904181"/>
          </a:xfrm>
          <a:custGeom>
            <a:avLst/>
            <a:gdLst/>
            <a:ahLst/>
            <a:cxnLst/>
            <a:rect r="r" b="b" t="t" l="l"/>
            <a:pathLst>
              <a:path h="1904181" w="2103011">
                <a:moveTo>
                  <a:pt x="0" y="0"/>
                </a:moveTo>
                <a:lnTo>
                  <a:pt x="2103011" y="0"/>
                </a:lnTo>
                <a:lnTo>
                  <a:pt x="2103011" y="1904181"/>
                </a:lnTo>
                <a:lnTo>
                  <a:pt x="0" y="190418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0">
            <a:off x="14982497" y="1028700"/>
            <a:ext cx="2276803" cy="2276803"/>
          </a:xfrm>
          <a:custGeom>
            <a:avLst/>
            <a:gdLst/>
            <a:ahLst/>
            <a:cxnLst/>
            <a:rect r="r" b="b" t="t" l="l"/>
            <a:pathLst>
              <a:path h="2276803" w="2276803">
                <a:moveTo>
                  <a:pt x="0" y="0"/>
                </a:moveTo>
                <a:lnTo>
                  <a:pt x="2276803" y="0"/>
                </a:lnTo>
                <a:lnTo>
                  <a:pt x="2276803" y="2276803"/>
                </a:lnTo>
                <a:lnTo>
                  <a:pt x="0" y="2276803"/>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6" id="6"/>
          <p:cNvSpPr/>
          <p:nvPr/>
        </p:nvSpPr>
        <p:spPr>
          <a:xfrm flipH="true" flipV="false" rot="0">
            <a:off x="7951959" y="1287642"/>
            <a:ext cx="2384082" cy="736898"/>
          </a:xfrm>
          <a:custGeom>
            <a:avLst/>
            <a:gdLst/>
            <a:ahLst/>
            <a:cxnLst/>
            <a:rect r="r" b="b" t="t" l="l"/>
            <a:pathLst>
              <a:path h="736898" w="2384082">
                <a:moveTo>
                  <a:pt x="2384082" y="0"/>
                </a:moveTo>
                <a:lnTo>
                  <a:pt x="0" y="0"/>
                </a:lnTo>
                <a:lnTo>
                  <a:pt x="0" y="736898"/>
                </a:lnTo>
                <a:lnTo>
                  <a:pt x="2384082" y="736898"/>
                </a:lnTo>
                <a:lnTo>
                  <a:pt x="2384082"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7" id="7"/>
          <p:cNvSpPr/>
          <p:nvPr/>
        </p:nvSpPr>
        <p:spPr>
          <a:xfrm flipH="true" flipV="false" rot="0">
            <a:off x="15156289" y="7354119"/>
            <a:ext cx="2103011" cy="1904181"/>
          </a:xfrm>
          <a:custGeom>
            <a:avLst/>
            <a:gdLst/>
            <a:ahLst/>
            <a:cxnLst/>
            <a:rect r="r" b="b" t="t" l="l"/>
            <a:pathLst>
              <a:path h="1904181" w="2103011">
                <a:moveTo>
                  <a:pt x="2103011" y="0"/>
                </a:moveTo>
                <a:lnTo>
                  <a:pt x="0" y="0"/>
                </a:lnTo>
                <a:lnTo>
                  <a:pt x="0" y="1904181"/>
                </a:lnTo>
                <a:lnTo>
                  <a:pt x="2103011" y="1904181"/>
                </a:lnTo>
                <a:lnTo>
                  <a:pt x="2103011"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0">
            <a:off x="380419" y="506595"/>
            <a:ext cx="5119182" cy="5916502"/>
          </a:xfrm>
          <a:custGeom>
            <a:avLst/>
            <a:gdLst/>
            <a:ahLst/>
            <a:cxnLst/>
            <a:rect r="r" b="b" t="t" l="l"/>
            <a:pathLst>
              <a:path h="5916502" w="5119182">
                <a:moveTo>
                  <a:pt x="0" y="0"/>
                </a:moveTo>
                <a:lnTo>
                  <a:pt x="5119182" y="0"/>
                </a:lnTo>
                <a:lnTo>
                  <a:pt x="5119182" y="5916503"/>
                </a:lnTo>
                <a:lnTo>
                  <a:pt x="0" y="5916503"/>
                </a:lnTo>
                <a:lnTo>
                  <a:pt x="0" y="0"/>
                </a:lnTo>
                <a:close/>
              </a:path>
            </a:pathLst>
          </a:custGeom>
          <a:blipFill>
            <a:blip r:embed="rId11"/>
            <a:stretch>
              <a:fillRect l="-10973" t="-5512" r="-10973" b="0"/>
            </a:stretch>
          </a:blipFill>
        </p:spPr>
      </p:sp>
      <p:sp>
        <p:nvSpPr>
          <p:cNvPr name="TextBox 9" id="9"/>
          <p:cNvSpPr txBox="true"/>
          <p:nvPr/>
        </p:nvSpPr>
        <p:spPr>
          <a:xfrm rot="0">
            <a:off x="5562179" y="3605786"/>
            <a:ext cx="10127590" cy="3448050"/>
          </a:xfrm>
          <a:prstGeom prst="rect">
            <a:avLst/>
          </a:prstGeom>
        </p:spPr>
        <p:txBody>
          <a:bodyPr anchor="t" rtlCol="false" tIns="0" lIns="0" bIns="0" rIns="0">
            <a:spAutoFit/>
          </a:bodyPr>
          <a:lstStyle/>
          <a:p>
            <a:pPr algn="ctr">
              <a:lnSpc>
                <a:spcPts val="13645"/>
              </a:lnSpc>
            </a:pPr>
            <a:r>
              <a:rPr lang="en-US" sz="11370" b="true">
                <a:solidFill>
                  <a:srgbClr val="03216A"/>
                </a:solidFill>
                <a:latin typeface="Rosario Bold"/>
                <a:ea typeface="Rosario Bold"/>
                <a:cs typeface="Rosario Bold"/>
                <a:sym typeface="Rosario Bold"/>
              </a:rPr>
              <a:t>Thank You for Attention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DAHWw6WEIhg</dc:identifier>
  <dcterms:modified xsi:type="dcterms:W3CDTF">2011-08-01T06:04:30Z</dcterms:modified>
  <cp:revision>1</cp:revision>
  <dc:title>Blue and White Modern Geometric Medical &amp; Healthcare Presentation</dc:title>
</cp:coreProperties>
</file>